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5143500" cx="9144000"/>
  <p:notesSz cx="6858000" cy="9144000"/>
  <p:embeddedFontLst>
    <p:embeddedFont>
      <p:font typeface="Lobster"/>
      <p:regular r:id="rId2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Lobster-regular.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5192faa843_4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35192faa843_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351d6784c13_1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351d6784c13_1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351d6784c13_1_2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351d6784c13_1_2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51d6784c13_1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51d6784c13_1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5194a8d602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5194a8d602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51d6784c13_1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351d6784c13_1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51d6784c13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351d6784c13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51d6784c13_1_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351d6784c13_1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51d6784c13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351d6784c13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51d6784c13_1_1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51d6784c13_1_1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51d6784c13_1_1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351d6784c13_1_1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51d6784c13_1_1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351d6784c13_1_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51d6784c13_1_2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351d6784c13_1_2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9.png"/><Relationship Id="rId4"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6.png"/><Relationship Id="rId4" Type="http://schemas.openxmlformats.org/officeDocument/2006/relationships/image" Target="../media/image2.png"/><Relationship Id="rId10" Type="http://schemas.openxmlformats.org/officeDocument/2006/relationships/image" Target="../media/image25.png"/><Relationship Id="rId9" Type="http://schemas.openxmlformats.org/officeDocument/2006/relationships/image" Target="../media/image15.png"/><Relationship Id="rId5" Type="http://schemas.openxmlformats.org/officeDocument/2006/relationships/image" Target="../media/image9.png"/><Relationship Id="rId6" Type="http://schemas.openxmlformats.org/officeDocument/2006/relationships/image" Target="../media/image7.png"/><Relationship Id="rId7" Type="http://schemas.openxmlformats.org/officeDocument/2006/relationships/image" Target="../media/image17.png"/><Relationship Id="rId8"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6.png"/><Relationship Id="rId6" Type="http://schemas.openxmlformats.org/officeDocument/2006/relationships/image" Target="../media/image9.png"/><Relationship Id="rId7"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4.png"/><Relationship Id="rId9" Type="http://schemas.openxmlformats.org/officeDocument/2006/relationships/image" Target="../media/image12.png"/><Relationship Id="rId5" Type="http://schemas.openxmlformats.org/officeDocument/2006/relationships/image" Target="../media/image9.png"/><Relationship Id="rId6" Type="http://schemas.openxmlformats.org/officeDocument/2006/relationships/image" Target="../media/image5.png"/><Relationship Id="rId7" Type="http://schemas.openxmlformats.org/officeDocument/2006/relationships/image" Target="../media/image21.png"/><Relationship Id="rId8"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9.png"/><Relationship Id="rId6" Type="http://schemas.openxmlformats.org/officeDocument/2006/relationships/image" Target="../media/image2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0.jpg"/><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3.png"/><Relationship Id="rId4" Type="http://schemas.openxmlformats.org/officeDocument/2006/relationships/image" Target="../media/image14.png"/><Relationship Id="rId5" Type="http://schemas.openxmlformats.org/officeDocument/2006/relationships/image" Target="../media/image16.png"/><Relationship Id="rId6" Type="http://schemas.openxmlformats.org/officeDocument/2006/relationships/image" Target="../media/image18.png"/><Relationship Id="rId7" Type="http://schemas.openxmlformats.org/officeDocument/2006/relationships/image" Target="../media/image2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nvSpPr>
        <p:spPr>
          <a:xfrm>
            <a:off x="5510900" y="0"/>
            <a:ext cx="3633000" cy="51435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1200"/>
              </a:spcBef>
              <a:spcAft>
                <a:spcPts val="0"/>
              </a:spcAft>
              <a:buNone/>
            </a:pPr>
            <a:r>
              <a:rPr b="1" lang="en" sz="2800">
                <a:solidFill>
                  <a:srgbClr val="4C1130"/>
                </a:solidFill>
              </a:rPr>
              <a:t>Smart, Secure, Seamless: Redefining Connected Vehicles with Salesforce Automotive Cloud, AI, Agentforce &amp; Data Cloud</a:t>
            </a:r>
            <a:endParaRPr b="1" sz="2800">
              <a:solidFill>
                <a:srgbClr val="4C1130"/>
              </a:solidFill>
            </a:endParaRPr>
          </a:p>
          <a:p>
            <a:pPr indent="0" lvl="0" marL="0" rtl="0" algn="ctr">
              <a:lnSpc>
                <a:spcPct val="115000"/>
              </a:lnSpc>
              <a:spcBef>
                <a:spcPts val="1200"/>
              </a:spcBef>
              <a:spcAft>
                <a:spcPts val="0"/>
              </a:spcAft>
              <a:buNone/>
            </a:pPr>
            <a:r>
              <a:rPr i="1" lang="en" sz="1500">
                <a:solidFill>
                  <a:srgbClr val="4C1130"/>
                </a:solidFill>
              </a:rPr>
              <a:t>by </a:t>
            </a:r>
            <a:endParaRPr i="1" sz="1500">
              <a:solidFill>
                <a:srgbClr val="4C1130"/>
              </a:solidFill>
            </a:endParaRPr>
          </a:p>
          <a:p>
            <a:pPr indent="0" lvl="0" marL="0" rtl="0" algn="ctr">
              <a:lnSpc>
                <a:spcPct val="115000"/>
              </a:lnSpc>
              <a:spcBef>
                <a:spcPts val="1200"/>
              </a:spcBef>
              <a:spcAft>
                <a:spcPts val="1200"/>
              </a:spcAft>
              <a:buNone/>
            </a:pPr>
            <a:r>
              <a:rPr i="1" lang="en" sz="1500">
                <a:solidFill>
                  <a:srgbClr val="4C1130"/>
                </a:solidFill>
              </a:rPr>
              <a:t>AgentPulse</a:t>
            </a:r>
            <a:endParaRPr b="1" sz="4400">
              <a:solidFill>
                <a:srgbClr val="4C1130"/>
              </a:solidFill>
              <a:latin typeface="Lobster"/>
              <a:ea typeface="Lobster"/>
              <a:cs typeface="Lobster"/>
              <a:sym typeface="Lobster"/>
            </a:endParaRPr>
          </a:p>
        </p:txBody>
      </p:sp>
      <p:pic>
        <p:nvPicPr>
          <p:cNvPr id="55" name="Google Shape;55;p13"/>
          <p:cNvPicPr preferRelativeResize="0"/>
          <p:nvPr/>
        </p:nvPicPr>
        <p:blipFill>
          <a:blip r:embed="rId3">
            <a:alphaModFix/>
          </a:blip>
          <a:stretch>
            <a:fillRect/>
          </a:stretch>
        </p:blipFill>
        <p:spPr>
          <a:xfrm>
            <a:off x="0" y="0"/>
            <a:ext cx="5143501" cy="5143501"/>
          </a:xfrm>
          <a:prstGeom prst="rect">
            <a:avLst/>
          </a:prstGeom>
          <a:noFill/>
          <a:ln>
            <a:noFill/>
          </a:ln>
        </p:spPr>
      </p:pic>
      <p:pic>
        <p:nvPicPr>
          <p:cNvPr descr="EINSTEIN_CoatBinoculars_LookLeft_SFS20_sRGB-MED.png" id="56" name="Google Shape;56;p13"/>
          <p:cNvPicPr preferRelativeResize="0"/>
          <p:nvPr/>
        </p:nvPicPr>
        <p:blipFill rotWithShape="1">
          <a:blip r:embed="rId4">
            <a:alphaModFix/>
          </a:blip>
          <a:srcRect b="6805" l="0" r="0" t="223"/>
          <a:stretch/>
        </p:blipFill>
        <p:spPr>
          <a:xfrm rot="-6">
            <a:off x="3901850" y="558427"/>
            <a:ext cx="1889750" cy="2116172"/>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0" name="Shape 60"/>
        <p:cNvGrpSpPr/>
        <p:nvPr/>
      </p:nvGrpSpPr>
      <p:grpSpPr>
        <a:xfrm>
          <a:off x="0" y="0"/>
          <a:ext cx="0" cy="0"/>
          <a:chOff x="0" y="0"/>
          <a:chExt cx="0" cy="0"/>
        </a:xfrm>
      </p:grpSpPr>
      <p:pic>
        <p:nvPicPr>
          <p:cNvPr id="61" name="Google Shape;61;p14"/>
          <p:cNvPicPr preferRelativeResize="0"/>
          <p:nvPr/>
        </p:nvPicPr>
        <p:blipFill>
          <a:blip r:embed="rId4">
            <a:alphaModFix/>
          </a:blip>
          <a:stretch>
            <a:fillRect/>
          </a:stretch>
        </p:blipFill>
        <p:spPr>
          <a:xfrm>
            <a:off x="8218425" y="36525"/>
            <a:ext cx="516725" cy="641250"/>
          </a:xfrm>
          <a:prstGeom prst="rect">
            <a:avLst/>
          </a:prstGeom>
          <a:noFill/>
          <a:ln>
            <a:noFill/>
          </a:ln>
        </p:spPr>
      </p:pic>
      <p:grpSp>
        <p:nvGrpSpPr>
          <p:cNvPr id="62" name="Google Shape;62;p14"/>
          <p:cNvGrpSpPr/>
          <p:nvPr/>
        </p:nvGrpSpPr>
        <p:grpSpPr>
          <a:xfrm>
            <a:off x="830392" y="1191256"/>
            <a:ext cx="745763" cy="45826"/>
            <a:chOff x="4580561" y="2589004"/>
            <a:chExt cx="1064464" cy="25200"/>
          </a:xfrm>
        </p:grpSpPr>
        <p:sp>
          <p:nvSpPr>
            <p:cNvPr id="63" name="Google Shape;63;p14"/>
            <p:cNvSpPr/>
            <p:nvPr/>
          </p:nvSpPr>
          <p:spPr>
            <a:xfrm rot="-5400000">
              <a:off x="5366325" y="2335504"/>
              <a:ext cx="25200" cy="532200"/>
            </a:xfrm>
            <a:prstGeom prst="rect">
              <a:avLst/>
            </a:prstGeom>
            <a:solidFill>
              <a:srgbClr val="EB56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14"/>
            <p:cNvSpPr/>
            <p:nvPr/>
          </p:nvSpPr>
          <p:spPr>
            <a:xfrm rot="-5400000">
              <a:off x="4836311" y="2333254"/>
              <a:ext cx="25200" cy="536700"/>
            </a:xfrm>
            <a:prstGeom prst="rect">
              <a:avLst/>
            </a:prstGeom>
            <a:solidFill>
              <a:srgbClr val="1A99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65" name="Google Shape;65;p14"/>
          <p:cNvPicPr preferRelativeResize="0"/>
          <p:nvPr/>
        </p:nvPicPr>
        <p:blipFill>
          <a:blip r:embed="rId5">
            <a:alphaModFix/>
          </a:blip>
          <a:stretch>
            <a:fillRect/>
          </a:stretch>
        </p:blipFill>
        <p:spPr>
          <a:xfrm>
            <a:off x="7939475" y="36525"/>
            <a:ext cx="1204526" cy="1204526"/>
          </a:xfrm>
          <a:prstGeom prst="rect">
            <a:avLst/>
          </a:prstGeom>
          <a:noFill/>
          <a:ln>
            <a:noFill/>
          </a:ln>
        </p:spPr>
      </p:pic>
      <p:pic>
        <p:nvPicPr>
          <p:cNvPr id="66" name="Google Shape;66;p14"/>
          <p:cNvPicPr preferRelativeResize="0"/>
          <p:nvPr/>
        </p:nvPicPr>
        <p:blipFill>
          <a:blip r:embed="rId6">
            <a:alphaModFix/>
          </a:blip>
          <a:stretch>
            <a:fillRect/>
          </a:stretch>
        </p:blipFill>
        <p:spPr>
          <a:xfrm>
            <a:off x="577775" y="36525"/>
            <a:ext cx="1905000" cy="1905000"/>
          </a:xfrm>
          <a:prstGeom prst="rect">
            <a:avLst/>
          </a:prstGeom>
          <a:noFill/>
          <a:ln>
            <a:noFill/>
          </a:ln>
        </p:spPr>
      </p:pic>
      <p:pic>
        <p:nvPicPr>
          <p:cNvPr id="67" name="Google Shape;67;p14"/>
          <p:cNvPicPr preferRelativeResize="0"/>
          <p:nvPr/>
        </p:nvPicPr>
        <p:blipFill rotWithShape="1">
          <a:blip r:embed="rId7">
            <a:alphaModFix/>
          </a:blip>
          <a:srcRect b="3410" l="0" r="0" t="-3410"/>
          <a:stretch/>
        </p:blipFill>
        <p:spPr>
          <a:xfrm>
            <a:off x="142225" y="1823950"/>
            <a:ext cx="1721950" cy="1721950"/>
          </a:xfrm>
          <a:prstGeom prst="rect">
            <a:avLst/>
          </a:prstGeom>
          <a:noFill/>
          <a:ln>
            <a:noFill/>
          </a:ln>
        </p:spPr>
      </p:pic>
      <p:pic>
        <p:nvPicPr>
          <p:cNvPr id="68" name="Google Shape;68;p14"/>
          <p:cNvPicPr preferRelativeResize="0"/>
          <p:nvPr/>
        </p:nvPicPr>
        <p:blipFill>
          <a:blip r:embed="rId8">
            <a:alphaModFix/>
          </a:blip>
          <a:stretch>
            <a:fillRect/>
          </a:stretch>
        </p:blipFill>
        <p:spPr>
          <a:xfrm>
            <a:off x="5963225" y="901"/>
            <a:ext cx="1976250" cy="1976225"/>
          </a:xfrm>
          <a:prstGeom prst="rect">
            <a:avLst/>
          </a:prstGeom>
          <a:noFill/>
          <a:ln>
            <a:noFill/>
          </a:ln>
        </p:spPr>
      </p:pic>
      <p:pic>
        <p:nvPicPr>
          <p:cNvPr id="69" name="Google Shape;69;p14"/>
          <p:cNvPicPr preferRelativeResize="0"/>
          <p:nvPr/>
        </p:nvPicPr>
        <p:blipFill>
          <a:blip r:embed="rId9">
            <a:alphaModFix/>
          </a:blip>
          <a:stretch>
            <a:fillRect/>
          </a:stretch>
        </p:blipFill>
        <p:spPr>
          <a:xfrm>
            <a:off x="5585049" y="2769525"/>
            <a:ext cx="1721951" cy="1721950"/>
          </a:xfrm>
          <a:prstGeom prst="rect">
            <a:avLst/>
          </a:prstGeom>
          <a:noFill/>
          <a:ln>
            <a:noFill/>
          </a:ln>
        </p:spPr>
      </p:pic>
      <p:pic>
        <p:nvPicPr>
          <p:cNvPr id="70" name="Google Shape;70;p14"/>
          <p:cNvPicPr preferRelativeResize="0"/>
          <p:nvPr/>
        </p:nvPicPr>
        <p:blipFill>
          <a:blip r:embed="rId10">
            <a:alphaModFix/>
          </a:blip>
          <a:stretch>
            <a:fillRect/>
          </a:stretch>
        </p:blipFill>
        <p:spPr>
          <a:xfrm>
            <a:off x="7166977" y="1732427"/>
            <a:ext cx="1905000" cy="19050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pic>
        <p:nvPicPr>
          <p:cNvPr id="75" name="Google Shape;75;p15"/>
          <p:cNvPicPr preferRelativeResize="0"/>
          <p:nvPr/>
        </p:nvPicPr>
        <p:blipFill>
          <a:blip r:embed="rId3">
            <a:alphaModFix/>
          </a:blip>
          <a:stretch>
            <a:fillRect/>
          </a:stretch>
        </p:blipFill>
        <p:spPr>
          <a:xfrm>
            <a:off x="0" y="0"/>
            <a:ext cx="5510899" cy="3673925"/>
          </a:xfrm>
          <a:prstGeom prst="rect">
            <a:avLst/>
          </a:prstGeom>
          <a:noFill/>
          <a:ln>
            <a:noFill/>
          </a:ln>
        </p:spPr>
      </p:pic>
      <p:sp>
        <p:nvSpPr>
          <p:cNvPr id="76" name="Google Shape;76;p15"/>
          <p:cNvSpPr txBox="1"/>
          <p:nvPr/>
        </p:nvSpPr>
        <p:spPr>
          <a:xfrm>
            <a:off x="0" y="3673925"/>
            <a:ext cx="5511000" cy="14862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1200"/>
              </a:spcAft>
              <a:buNone/>
            </a:pPr>
            <a:r>
              <a:rPr b="1" lang="en" sz="1900">
                <a:solidFill>
                  <a:srgbClr val="4C1130"/>
                </a:solidFill>
              </a:rPr>
              <a:t>Smart, Secure, Seamless: Redefining Connected Vehicles with Salesforce Automotive Cloud, AI, Agentforce &amp; Data Cloud</a:t>
            </a:r>
            <a:endParaRPr b="1" sz="3500">
              <a:solidFill>
                <a:srgbClr val="4C1130"/>
              </a:solidFill>
              <a:latin typeface="Lobster"/>
              <a:ea typeface="Lobster"/>
              <a:cs typeface="Lobster"/>
              <a:sym typeface="Lobster"/>
            </a:endParaRPr>
          </a:p>
        </p:txBody>
      </p:sp>
      <p:sp>
        <p:nvSpPr>
          <p:cNvPr id="77" name="Google Shape;77;p15"/>
          <p:cNvSpPr/>
          <p:nvPr/>
        </p:nvSpPr>
        <p:spPr>
          <a:xfrm>
            <a:off x="5824075" y="222475"/>
            <a:ext cx="3128100" cy="628200"/>
          </a:xfrm>
          <a:prstGeom prst="round1Rect">
            <a:avLst>
              <a:gd fmla="val 16667" name="adj"/>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a:solidFill>
                  <a:schemeClr val="lt1"/>
                </a:solidFill>
              </a:rPr>
              <a:t>API Integration</a:t>
            </a:r>
            <a:endParaRPr>
              <a:solidFill>
                <a:schemeClr val="lt1"/>
              </a:solidFill>
            </a:endParaRPr>
          </a:p>
        </p:txBody>
      </p:sp>
      <p:sp>
        <p:nvSpPr>
          <p:cNvPr id="78" name="Google Shape;78;p15"/>
          <p:cNvSpPr/>
          <p:nvPr/>
        </p:nvSpPr>
        <p:spPr>
          <a:xfrm>
            <a:off x="5824075" y="2485825"/>
            <a:ext cx="3128100" cy="628200"/>
          </a:xfrm>
          <a:prstGeom prst="round1Rect">
            <a:avLst>
              <a:gd fmla="val 16667" name="adj"/>
            </a:avLst>
          </a:prstGeom>
          <a:solidFill>
            <a:srgbClr val="07376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a:solidFill>
                  <a:schemeClr val="lt1"/>
                </a:solidFill>
              </a:rPr>
              <a:t>Slack</a:t>
            </a:r>
            <a:endParaRPr>
              <a:solidFill>
                <a:schemeClr val="lt1"/>
              </a:solidFill>
            </a:endParaRPr>
          </a:p>
        </p:txBody>
      </p:sp>
      <p:sp>
        <p:nvSpPr>
          <p:cNvPr id="79" name="Google Shape;79;p15"/>
          <p:cNvSpPr/>
          <p:nvPr/>
        </p:nvSpPr>
        <p:spPr>
          <a:xfrm>
            <a:off x="5824075" y="3240275"/>
            <a:ext cx="3128100" cy="628200"/>
          </a:xfrm>
          <a:prstGeom prst="round1Rect">
            <a:avLst>
              <a:gd fmla="val 16667" name="adj"/>
            </a:avLst>
          </a:prstGeom>
          <a:solidFill>
            <a:srgbClr val="07376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a:solidFill>
                  <a:schemeClr val="lt1"/>
                </a:solidFill>
              </a:rPr>
              <a:t>Prompt Builder</a:t>
            </a:r>
            <a:endParaRPr>
              <a:solidFill>
                <a:schemeClr val="lt1"/>
              </a:solidFill>
            </a:endParaRPr>
          </a:p>
        </p:txBody>
      </p:sp>
      <p:sp>
        <p:nvSpPr>
          <p:cNvPr id="80" name="Google Shape;80;p15"/>
          <p:cNvSpPr/>
          <p:nvPr/>
        </p:nvSpPr>
        <p:spPr>
          <a:xfrm>
            <a:off x="5824075" y="3994725"/>
            <a:ext cx="3128100" cy="628200"/>
          </a:xfrm>
          <a:prstGeom prst="round1Rect">
            <a:avLst>
              <a:gd fmla="val 16667" name="adj"/>
            </a:avLst>
          </a:prstGeom>
          <a:solidFill>
            <a:srgbClr val="07376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a:solidFill>
                  <a:schemeClr val="lt1"/>
                </a:solidFill>
              </a:rPr>
              <a:t>AgentForce Service Agent</a:t>
            </a:r>
            <a:endParaRPr>
              <a:solidFill>
                <a:schemeClr val="lt1"/>
              </a:solidFill>
            </a:endParaRPr>
          </a:p>
        </p:txBody>
      </p:sp>
      <p:sp>
        <p:nvSpPr>
          <p:cNvPr id="81" name="Google Shape;81;p15"/>
          <p:cNvSpPr/>
          <p:nvPr/>
        </p:nvSpPr>
        <p:spPr>
          <a:xfrm>
            <a:off x="5824075" y="976925"/>
            <a:ext cx="3128100" cy="628200"/>
          </a:xfrm>
          <a:prstGeom prst="round1Rect">
            <a:avLst>
              <a:gd fmla="val 16667" name="adj"/>
            </a:avLst>
          </a:prstGeom>
          <a:solidFill>
            <a:srgbClr val="07376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a:solidFill>
                  <a:schemeClr val="lt1"/>
                </a:solidFill>
              </a:rPr>
              <a:t>Telemetry Data Insights</a:t>
            </a:r>
            <a:endParaRPr>
              <a:solidFill>
                <a:schemeClr val="lt1"/>
              </a:solidFill>
            </a:endParaRPr>
          </a:p>
        </p:txBody>
      </p:sp>
      <p:sp>
        <p:nvSpPr>
          <p:cNvPr id="82" name="Google Shape;82;p15"/>
          <p:cNvSpPr/>
          <p:nvPr/>
        </p:nvSpPr>
        <p:spPr>
          <a:xfrm>
            <a:off x="5824075" y="1731375"/>
            <a:ext cx="3128100" cy="628200"/>
          </a:xfrm>
          <a:prstGeom prst="round1Rect">
            <a:avLst>
              <a:gd fmla="val 16667" name="adj"/>
            </a:avLst>
          </a:prstGeom>
          <a:solidFill>
            <a:srgbClr val="07376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rPr>
              <a:t>Automotive Cloud Record Alerts</a:t>
            </a:r>
            <a:endParaRPr>
              <a:solidFill>
                <a:schemeClr val="lt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6"/>
          <p:cNvSpPr txBox="1"/>
          <p:nvPr/>
        </p:nvSpPr>
        <p:spPr>
          <a:xfrm>
            <a:off x="150" y="0"/>
            <a:ext cx="9144000" cy="5143500"/>
          </a:xfrm>
          <a:prstGeom prst="rect">
            <a:avLst/>
          </a:prstGeom>
          <a:solidFill>
            <a:srgbClr val="D5A6BD"/>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b="1" sz="5600">
              <a:solidFill>
                <a:srgbClr val="4C1130"/>
              </a:solidFill>
            </a:endParaRPr>
          </a:p>
          <a:p>
            <a:pPr indent="0" lvl="0" marL="0" rtl="0" algn="l">
              <a:spcBef>
                <a:spcPts val="0"/>
              </a:spcBef>
              <a:spcAft>
                <a:spcPts val="0"/>
              </a:spcAft>
              <a:buNone/>
            </a:pPr>
            <a:r>
              <a:t/>
            </a:r>
            <a:endParaRPr b="1" sz="5600">
              <a:solidFill>
                <a:srgbClr val="4C1130"/>
              </a:solidFill>
            </a:endParaRPr>
          </a:p>
          <a:p>
            <a:pPr indent="0" lvl="0" marL="1828800" rtl="0" algn="l">
              <a:spcBef>
                <a:spcPts val="0"/>
              </a:spcBef>
              <a:spcAft>
                <a:spcPts val="0"/>
              </a:spcAft>
              <a:buNone/>
            </a:pPr>
            <a:r>
              <a:rPr b="1" lang="en" sz="5600">
                <a:solidFill>
                  <a:srgbClr val="4C1130"/>
                </a:solidFill>
              </a:rPr>
              <a:t>Vehicle Demo</a:t>
            </a:r>
            <a:endParaRPr sz="5500">
              <a:solidFill>
                <a:schemeClr val="dk2"/>
              </a:solidFill>
              <a:highlight>
                <a:srgbClr val="C27BA0"/>
              </a:highlight>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pic>
        <p:nvPicPr>
          <p:cNvPr id="92" name="Google Shape;92;p17"/>
          <p:cNvPicPr preferRelativeResize="0"/>
          <p:nvPr/>
        </p:nvPicPr>
        <p:blipFill>
          <a:blip r:embed="rId3">
            <a:alphaModFix/>
          </a:blip>
          <a:stretch>
            <a:fillRect/>
          </a:stretch>
        </p:blipFill>
        <p:spPr>
          <a:xfrm>
            <a:off x="0" y="0"/>
            <a:ext cx="5510899" cy="3673925"/>
          </a:xfrm>
          <a:prstGeom prst="rect">
            <a:avLst/>
          </a:prstGeom>
          <a:noFill/>
          <a:ln>
            <a:noFill/>
          </a:ln>
        </p:spPr>
      </p:pic>
      <p:sp>
        <p:nvSpPr>
          <p:cNvPr id="93" name="Google Shape;93;p17"/>
          <p:cNvSpPr txBox="1"/>
          <p:nvPr/>
        </p:nvSpPr>
        <p:spPr>
          <a:xfrm>
            <a:off x="0" y="3673925"/>
            <a:ext cx="5511000" cy="14862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1200"/>
              </a:spcAft>
              <a:buNone/>
            </a:pPr>
            <a:r>
              <a:rPr b="1" lang="en" sz="1900">
                <a:solidFill>
                  <a:srgbClr val="4C1130"/>
                </a:solidFill>
              </a:rPr>
              <a:t>Smart, Secure, Seamless: Redefining Connected Vehicles with Salesforce Automotive Cloud, AI, Agentforce &amp; Data Cloud</a:t>
            </a:r>
            <a:endParaRPr b="1" sz="3500">
              <a:solidFill>
                <a:srgbClr val="4C1130"/>
              </a:solidFill>
              <a:latin typeface="Lobster"/>
              <a:ea typeface="Lobster"/>
              <a:cs typeface="Lobster"/>
              <a:sym typeface="Lobster"/>
            </a:endParaRPr>
          </a:p>
        </p:txBody>
      </p:sp>
      <p:sp>
        <p:nvSpPr>
          <p:cNvPr id="94" name="Google Shape;94;p17"/>
          <p:cNvSpPr/>
          <p:nvPr/>
        </p:nvSpPr>
        <p:spPr>
          <a:xfrm>
            <a:off x="5824075" y="222475"/>
            <a:ext cx="3128100" cy="628200"/>
          </a:xfrm>
          <a:prstGeom prst="round1Rect">
            <a:avLst>
              <a:gd fmla="val 16667" name="adj"/>
            </a:avLst>
          </a:prstGeom>
          <a:solidFill>
            <a:srgbClr val="07376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a:solidFill>
                  <a:schemeClr val="lt1"/>
                </a:solidFill>
              </a:rPr>
              <a:t>API Integration</a:t>
            </a:r>
            <a:endParaRPr>
              <a:solidFill>
                <a:schemeClr val="lt1"/>
              </a:solidFill>
            </a:endParaRPr>
          </a:p>
        </p:txBody>
      </p:sp>
      <p:sp>
        <p:nvSpPr>
          <p:cNvPr id="95" name="Google Shape;95;p17"/>
          <p:cNvSpPr/>
          <p:nvPr/>
        </p:nvSpPr>
        <p:spPr>
          <a:xfrm>
            <a:off x="5824075" y="2485825"/>
            <a:ext cx="3128100" cy="628200"/>
          </a:xfrm>
          <a:prstGeom prst="round1Rect">
            <a:avLst>
              <a:gd fmla="val 16667" name="adj"/>
            </a:avLst>
          </a:prstGeom>
          <a:solidFill>
            <a:srgbClr val="07376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a:solidFill>
                  <a:schemeClr val="lt1"/>
                </a:solidFill>
              </a:rPr>
              <a:t>Slack</a:t>
            </a:r>
            <a:endParaRPr>
              <a:solidFill>
                <a:schemeClr val="lt1"/>
              </a:solidFill>
            </a:endParaRPr>
          </a:p>
        </p:txBody>
      </p:sp>
      <p:sp>
        <p:nvSpPr>
          <p:cNvPr id="96" name="Google Shape;96;p17"/>
          <p:cNvSpPr/>
          <p:nvPr/>
        </p:nvSpPr>
        <p:spPr>
          <a:xfrm>
            <a:off x="5824075" y="3240275"/>
            <a:ext cx="3128100" cy="628200"/>
          </a:xfrm>
          <a:prstGeom prst="round1Rect">
            <a:avLst>
              <a:gd fmla="val 16667" name="adj"/>
            </a:avLst>
          </a:prstGeom>
          <a:solidFill>
            <a:srgbClr val="07376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a:solidFill>
                  <a:schemeClr val="lt1"/>
                </a:solidFill>
              </a:rPr>
              <a:t>Prompt Builder</a:t>
            </a:r>
            <a:endParaRPr>
              <a:solidFill>
                <a:schemeClr val="lt1"/>
              </a:solidFill>
            </a:endParaRPr>
          </a:p>
        </p:txBody>
      </p:sp>
      <p:sp>
        <p:nvSpPr>
          <p:cNvPr id="97" name="Google Shape;97;p17"/>
          <p:cNvSpPr/>
          <p:nvPr/>
        </p:nvSpPr>
        <p:spPr>
          <a:xfrm>
            <a:off x="5824075" y="3994725"/>
            <a:ext cx="3128100" cy="628200"/>
          </a:xfrm>
          <a:prstGeom prst="round1Rect">
            <a:avLst>
              <a:gd fmla="val 16667" name="adj"/>
            </a:avLst>
          </a:prstGeom>
          <a:solidFill>
            <a:srgbClr val="07376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a:solidFill>
                  <a:schemeClr val="lt1"/>
                </a:solidFill>
              </a:rPr>
              <a:t>AgentForce Service Agent</a:t>
            </a:r>
            <a:endParaRPr>
              <a:solidFill>
                <a:schemeClr val="lt1"/>
              </a:solidFill>
            </a:endParaRPr>
          </a:p>
        </p:txBody>
      </p:sp>
      <p:sp>
        <p:nvSpPr>
          <p:cNvPr id="98" name="Google Shape;98;p17"/>
          <p:cNvSpPr/>
          <p:nvPr/>
        </p:nvSpPr>
        <p:spPr>
          <a:xfrm>
            <a:off x="5824075" y="976925"/>
            <a:ext cx="3128100" cy="628200"/>
          </a:xfrm>
          <a:prstGeom prst="round1Rect">
            <a:avLst>
              <a:gd fmla="val 16667" name="adj"/>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a:solidFill>
                  <a:schemeClr val="lt1"/>
                </a:solidFill>
              </a:rPr>
              <a:t>Telemetry Data Insights</a:t>
            </a:r>
            <a:endParaRPr>
              <a:solidFill>
                <a:schemeClr val="lt1"/>
              </a:solidFill>
            </a:endParaRPr>
          </a:p>
        </p:txBody>
      </p:sp>
      <p:sp>
        <p:nvSpPr>
          <p:cNvPr id="99" name="Google Shape;99;p17"/>
          <p:cNvSpPr/>
          <p:nvPr/>
        </p:nvSpPr>
        <p:spPr>
          <a:xfrm>
            <a:off x="5824075" y="1731375"/>
            <a:ext cx="3128100" cy="628200"/>
          </a:xfrm>
          <a:prstGeom prst="round1Rect">
            <a:avLst>
              <a:gd fmla="val 16667" name="adj"/>
            </a:avLst>
          </a:prstGeom>
          <a:solidFill>
            <a:srgbClr val="07376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rPr>
              <a:t>Automotive Cloud Record Alerts</a:t>
            </a:r>
            <a:endParaRPr>
              <a:solidFill>
                <a:schemeClr val="lt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3" name="Shape 103"/>
        <p:cNvGrpSpPr/>
        <p:nvPr/>
      </p:nvGrpSpPr>
      <p:grpSpPr>
        <a:xfrm>
          <a:off x="0" y="0"/>
          <a:ext cx="0" cy="0"/>
          <a:chOff x="0" y="0"/>
          <a:chExt cx="0" cy="0"/>
        </a:xfrm>
      </p:grpSpPr>
      <p:sp>
        <p:nvSpPr>
          <p:cNvPr id="104" name="Google Shape;104;p18"/>
          <p:cNvSpPr txBox="1"/>
          <p:nvPr/>
        </p:nvSpPr>
        <p:spPr>
          <a:xfrm>
            <a:off x="5510900" y="2571750"/>
            <a:ext cx="3633000" cy="2571600"/>
          </a:xfrm>
          <a:prstGeom prst="rect">
            <a:avLst/>
          </a:prstGeom>
          <a:noFill/>
          <a:ln>
            <a:noFill/>
          </a:ln>
        </p:spPr>
        <p:txBody>
          <a:bodyPr anchorCtr="0" anchor="t" bIns="91425" lIns="91425" spcFirstLastPara="1" rIns="91425" wrap="square" tIns="91425">
            <a:noAutofit/>
          </a:bodyPr>
          <a:lstStyle/>
          <a:p>
            <a:pPr indent="0" lvl="0" marL="0" rtl="0" algn="just">
              <a:spcBef>
                <a:spcPts val="1200"/>
              </a:spcBef>
              <a:spcAft>
                <a:spcPts val="0"/>
              </a:spcAft>
              <a:buNone/>
            </a:pPr>
            <a:r>
              <a:t/>
            </a:r>
            <a:endParaRPr sz="1200">
              <a:solidFill>
                <a:schemeClr val="dk1"/>
              </a:solidFill>
            </a:endParaRPr>
          </a:p>
          <a:p>
            <a:pPr indent="0" lvl="0" marL="0" rtl="0" algn="just">
              <a:spcBef>
                <a:spcPts val="1200"/>
              </a:spcBef>
              <a:spcAft>
                <a:spcPts val="0"/>
              </a:spcAft>
              <a:buNone/>
            </a:pPr>
            <a:r>
              <a:t/>
            </a:r>
            <a:endParaRPr sz="1200">
              <a:solidFill>
                <a:schemeClr val="dk1"/>
              </a:solidFill>
            </a:endParaRPr>
          </a:p>
          <a:p>
            <a:pPr indent="-304800" lvl="0" marL="457200" rtl="0" algn="just">
              <a:lnSpc>
                <a:spcPct val="115000"/>
              </a:lnSpc>
              <a:spcBef>
                <a:spcPts val="1200"/>
              </a:spcBef>
              <a:spcAft>
                <a:spcPts val="0"/>
              </a:spcAft>
              <a:buClr>
                <a:schemeClr val="dk1"/>
              </a:buClr>
              <a:buSzPts val="1200"/>
              <a:buAutoNum type="arabicPeriod"/>
            </a:pPr>
            <a:r>
              <a:t/>
            </a:r>
            <a:endParaRPr sz="1200">
              <a:solidFill>
                <a:srgbClr val="595959"/>
              </a:solidFill>
            </a:endParaRPr>
          </a:p>
        </p:txBody>
      </p:sp>
      <p:pic>
        <p:nvPicPr>
          <p:cNvPr id="105" name="Google Shape;105;p18"/>
          <p:cNvPicPr preferRelativeResize="0"/>
          <p:nvPr/>
        </p:nvPicPr>
        <p:blipFill>
          <a:blip r:embed="rId4">
            <a:alphaModFix/>
          </a:blip>
          <a:stretch>
            <a:fillRect/>
          </a:stretch>
        </p:blipFill>
        <p:spPr>
          <a:xfrm>
            <a:off x="3777725" y="2852663"/>
            <a:ext cx="2600325" cy="2009775"/>
          </a:xfrm>
          <a:prstGeom prst="rect">
            <a:avLst/>
          </a:prstGeom>
          <a:noFill/>
          <a:ln>
            <a:noFill/>
          </a:ln>
        </p:spPr>
      </p:pic>
      <p:sp>
        <p:nvSpPr>
          <p:cNvPr id="106" name="Google Shape;106;p18"/>
          <p:cNvSpPr/>
          <p:nvPr/>
        </p:nvSpPr>
        <p:spPr>
          <a:xfrm>
            <a:off x="5838850" y="2069225"/>
            <a:ext cx="3305100" cy="30153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1200"/>
              </a:spcBef>
              <a:spcAft>
                <a:spcPts val="1200"/>
              </a:spcAft>
              <a:buNone/>
            </a:pPr>
            <a:r>
              <a:rPr b="1" lang="en" sz="1600">
                <a:solidFill>
                  <a:schemeClr val="dk1"/>
                </a:solidFill>
              </a:rPr>
              <a:t>Leveraging Asset Telematics Event Model for Connected Vehicle Use Cases: </a:t>
            </a:r>
            <a:r>
              <a:rPr lang="en" sz="1600">
                <a:solidFill>
                  <a:schemeClr val="dk1"/>
                </a:solidFill>
              </a:rPr>
              <a:t>For connected vehicle use cases, Salesforce Data Cloud provides the Asset Telematics Event Data Model object to capture actionable data and insights, enabling you to personalize notifications and track the health of the vehicle.</a:t>
            </a:r>
            <a:endParaRPr sz="1800"/>
          </a:p>
        </p:txBody>
      </p:sp>
      <p:pic>
        <p:nvPicPr>
          <p:cNvPr id="107" name="Google Shape;107;p18"/>
          <p:cNvPicPr preferRelativeResize="0"/>
          <p:nvPr/>
        </p:nvPicPr>
        <p:blipFill>
          <a:blip r:embed="rId5">
            <a:alphaModFix/>
          </a:blip>
          <a:stretch>
            <a:fillRect/>
          </a:stretch>
        </p:blipFill>
        <p:spPr>
          <a:xfrm>
            <a:off x="0" y="0"/>
            <a:ext cx="5838849" cy="3384825"/>
          </a:xfrm>
          <a:prstGeom prst="rect">
            <a:avLst/>
          </a:prstGeom>
          <a:noFill/>
          <a:ln>
            <a:noFill/>
          </a:ln>
        </p:spPr>
      </p:pic>
      <p:sp>
        <p:nvSpPr>
          <p:cNvPr id="108" name="Google Shape;108;p18"/>
          <p:cNvSpPr txBox="1"/>
          <p:nvPr/>
        </p:nvSpPr>
        <p:spPr>
          <a:xfrm>
            <a:off x="0" y="3491625"/>
            <a:ext cx="60105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000" u="sng">
                <a:solidFill>
                  <a:schemeClr val="dk1"/>
                </a:solidFill>
              </a:rPr>
              <a:t>Case Study 1:</a:t>
            </a:r>
            <a:r>
              <a:rPr b="1" lang="en" sz="2000">
                <a:solidFill>
                  <a:schemeClr val="dk1"/>
                </a:solidFill>
              </a:rPr>
              <a:t>  Vehicle Health Alert Framework</a:t>
            </a:r>
            <a:endParaRPr b="1" sz="2000">
              <a:solidFill>
                <a:schemeClr val="dk1"/>
              </a:solidFill>
            </a:endParaRPr>
          </a:p>
        </p:txBody>
      </p:sp>
      <p:pic>
        <p:nvPicPr>
          <p:cNvPr id="109" name="Google Shape;109;p18"/>
          <p:cNvPicPr preferRelativeResize="0"/>
          <p:nvPr/>
        </p:nvPicPr>
        <p:blipFill>
          <a:blip r:embed="rId6">
            <a:alphaModFix/>
          </a:blip>
          <a:stretch>
            <a:fillRect/>
          </a:stretch>
        </p:blipFill>
        <p:spPr>
          <a:xfrm>
            <a:off x="7939475" y="36525"/>
            <a:ext cx="1204526" cy="1204526"/>
          </a:xfrm>
          <a:prstGeom prst="rect">
            <a:avLst/>
          </a:prstGeom>
          <a:noFill/>
          <a:ln>
            <a:noFill/>
          </a:ln>
        </p:spPr>
      </p:pic>
      <p:pic>
        <p:nvPicPr>
          <p:cNvPr id="110" name="Google Shape;110;p18"/>
          <p:cNvPicPr preferRelativeResize="0"/>
          <p:nvPr/>
        </p:nvPicPr>
        <p:blipFill>
          <a:blip r:embed="rId7">
            <a:alphaModFix/>
          </a:blip>
          <a:stretch>
            <a:fillRect/>
          </a:stretch>
        </p:blipFill>
        <p:spPr>
          <a:xfrm>
            <a:off x="4122025" y="938875"/>
            <a:ext cx="302177" cy="302177"/>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pic>
        <p:nvPicPr>
          <p:cNvPr id="115" name="Google Shape;115;p19"/>
          <p:cNvPicPr preferRelativeResize="0"/>
          <p:nvPr/>
        </p:nvPicPr>
        <p:blipFill>
          <a:blip r:embed="rId3">
            <a:alphaModFix/>
          </a:blip>
          <a:stretch>
            <a:fillRect/>
          </a:stretch>
        </p:blipFill>
        <p:spPr>
          <a:xfrm>
            <a:off x="0" y="0"/>
            <a:ext cx="5510899" cy="3673925"/>
          </a:xfrm>
          <a:prstGeom prst="rect">
            <a:avLst/>
          </a:prstGeom>
          <a:noFill/>
          <a:ln>
            <a:noFill/>
          </a:ln>
        </p:spPr>
      </p:pic>
      <p:sp>
        <p:nvSpPr>
          <p:cNvPr id="116" name="Google Shape;116;p19"/>
          <p:cNvSpPr txBox="1"/>
          <p:nvPr/>
        </p:nvSpPr>
        <p:spPr>
          <a:xfrm>
            <a:off x="0" y="3673925"/>
            <a:ext cx="5511000" cy="14862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1200"/>
              </a:spcAft>
              <a:buNone/>
            </a:pPr>
            <a:r>
              <a:rPr b="1" lang="en" sz="1900">
                <a:solidFill>
                  <a:srgbClr val="4C1130"/>
                </a:solidFill>
              </a:rPr>
              <a:t>Smart, Secure, Seamless: Redefining Connected Vehicles with Salesforce Automotive Cloud, AI, Agentforce &amp; Data Cloud</a:t>
            </a:r>
            <a:endParaRPr b="1" sz="3500">
              <a:solidFill>
                <a:srgbClr val="4C1130"/>
              </a:solidFill>
              <a:latin typeface="Lobster"/>
              <a:ea typeface="Lobster"/>
              <a:cs typeface="Lobster"/>
              <a:sym typeface="Lobster"/>
            </a:endParaRPr>
          </a:p>
        </p:txBody>
      </p:sp>
      <p:sp>
        <p:nvSpPr>
          <p:cNvPr id="117" name="Google Shape;117;p19"/>
          <p:cNvSpPr/>
          <p:nvPr/>
        </p:nvSpPr>
        <p:spPr>
          <a:xfrm>
            <a:off x="5824075" y="222475"/>
            <a:ext cx="3128100" cy="628200"/>
          </a:xfrm>
          <a:prstGeom prst="round1Rect">
            <a:avLst>
              <a:gd fmla="val 16667" name="adj"/>
            </a:avLst>
          </a:prstGeom>
          <a:solidFill>
            <a:srgbClr val="1C458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a:solidFill>
                  <a:schemeClr val="lt1"/>
                </a:solidFill>
              </a:rPr>
              <a:t>API Integration</a:t>
            </a:r>
            <a:endParaRPr>
              <a:solidFill>
                <a:schemeClr val="lt1"/>
              </a:solidFill>
            </a:endParaRPr>
          </a:p>
        </p:txBody>
      </p:sp>
      <p:sp>
        <p:nvSpPr>
          <p:cNvPr id="118" name="Google Shape;118;p19"/>
          <p:cNvSpPr/>
          <p:nvPr/>
        </p:nvSpPr>
        <p:spPr>
          <a:xfrm>
            <a:off x="5824075" y="2485825"/>
            <a:ext cx="3128100" cy="628200"/>
          </a:xfrm>
          <a:prstGeom prst="round1Rect">
            <a:avLst>
              <a:gd fmla="val 16667" name="adj"/>
            </a:avLst>
          </a:prstGeom>
          <a:solidFill>
            <a:srgbClr val="1C458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a:solidFill>
                  <a:schemeClr val="lt1"/>
                </a:solidFill>
              </a:rPr>
              <a:t>Slack</a:t>
            </a:r>
            <a:endParaRPr>
              <a:solidFill>
                <a:schemeClr val="lt1"/>
              </a:solidFill>
            </a:endParaRPr>
          </a:p>
        </p:txBody>
      </p:sp>
      <p:sp>
        <p:nvSpPr>
          <p:cNvPr id="119" name="Google Shape;119;p19"/>
          <p:cNvSpPr/>
          <p:nvPr/>
        </p:nvSpPr>
        <p:spPr>
          <a:xfrm>
            <a:off x="5824075" y="3240275"/>
            <a:ext cx="3128100" cy="628200"/>
          </a:xfrm>
          <a:prstGeom prst="round1Rect">
            <a:avLst>
              <a:gd fmla="val 16667" name="adj"/>
            </a:avLst>
          </a:prstGeom>
          <a:solidFill>
            <a:srgbClr val="1C458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a:solidFill>
                  <a:schemeClr val="lt1"/>
                </a:solidFill>
              </a:rPr>
              <a:t>Prompt Builder</a:t>
            </a:r>
            <a:endParaRPr>
              <a:solidFill>
                <a:schemeClr val="lt1"/>
              </a:solidFill>
            </a:endParaRPr>
          </a:p>
        </p:txBody>
      </p:sp>
      <p:sp>
        <p:nvSpPr>
          <p:cNvPr id="120" name="Google Shape;120;p19"/>
          <p:cNvSpPr/>
          <p:nvPr/>
        </p:nvSpPr>
        <p:spPr>
          <a:xfrm>
            <a:off x="5824075" y="3994725"/>
            <a:ext cx="3128100" cy="628200"/>
          </a:xfrm>
          <a:prstGeom prst="round1Rect">
            <a:avLst>
              <a:gd fmla="val 16667" name="adj"/>
            </a:avLst>
          </a:prstGeom>
          <a:solidFill>
            <a:srgbClr val="1C458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a:solidFill>
                  <a:schemeClr val="lt1"/>
                </a:solidFill>
              </a:rPr>
              <a:t>AgentForce Service Agent</a:t>
            </a:r>
            <a:endParaRPr>
              <a:solidFill>
                <a:schemeClr val="lt1"/>
              </a:solidFill>
            </a:endParaRPr>
          </a:p>
        </p:txBody>
      </p:sp>
      <p:sp>
        <p:nvSpPr>
          <p:cNvPr id="121" name="Google Shape;121;p19"/>
          <p:cNvSpPr/>
          <p:nvPr/>
        </p:nvSpPr>
        <p:spPr>
          <a:xfrm>
            <a:off x="5824075" y="976925"/>
            <a:ext cx="3128100" cy="628200"/>
          </a:xfrm>
          <a:prstGeom prst="round1Rect">
            <a:avLst>
              <a:gd fmla="val 16667" name="adj"/>
            </a:avLst>
          </a:prstGeom>
          <a:solidFill>
            <a:srgbClr val="1C458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a:solidFill>
                  <a:schemeClr val="lt1"/>
                </a:solidFill>
              </a:rPr>
              <a:t>Telemetry Data Insights</a:t>
            </a:r>
            <a:endParaRPr>
              <a:solidFill>
                <a:schemeClr val="lt1"/>
              </a:solidFill>
            </a:endParaRPr>
          </a:p>
        </p:txBody>
      </p:sp>
      <p:sp>
        <p:nvSpPr>
          <p:cNvPr id="122" name="Google Shape;122;p19"/>
          <p:cNvSpPr/>
          <p:nvPr/>
        </p:nvSpPr>
        <p:spPr>
          <a:xfrm>
            <a:off x="5824075" y="1731375"/>
            <a:ext cx="3128100" cy="628200"/>
          </a:xfrm>
          <a:prstGeom prst="round1Rect">
            <a:avLst>
              <a:gd fmla="val 16667" name="adj"/>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rPr>
              <a:t>Automotive Cloud Record Alerts</a:t>
            </a:r>
            <a:endParaRPr>
              <a:solidFill>
                <a:schemeClr val="lt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6" name="Shape 126"/>
        <p:cNvGrpSpPr/>
        <p:nvPr/>
      </p:nvGrpSpPr>
      <p:grpSpPr>
        <a:xfrm>
          <a:off x="0" y="0"/>
          <a:ext cx="0" cy="0"/>
          <a:chOff x="0" y="0"/>
          <a:chExt cx="0" cy="0"/>
        </a:xfrm>
      </p:grpSpPr>
      <p:sp>
        <p:nvSpPr>
          <p:cNvPr id="127" name="Google Shape;127;p20"/>
          <p:cNvSpPr txBox="1"/>
          <p:nvPr/>
        </p:nvSpPr>
        <p:spPr>
          <a:xfrm>
            <a:off x="5510900" y="2571750"/>
            <a:ext cx="3633000" cy="2571600"/>
          </a:xfrm>
          <a:prstGeom prst="rect">
            <a:avLst/>
          </a:prstGeom>
          <a:noFill/>
          <a:ln>
            <a:noFill/>
          </a:ln>
        </p:spPr>
        <p:txBody>
          <a:bodyPr anchorCtr="0" anchor="t" bIns="91425" lIns="91425" spcFirstLastPara="1" rIns="91425" wrap="square" tIns="91425">
            <a:noAutofit/>
          </a:bodyPr>
          <a:lstStyle/>
          <a:p>
            <a:pPr indent="0" lvl="0" marL="0" rtl="0" algn="just">
              <a:spcBef>
                <a:spcPts val="1200"/>
              </a:spcBef>
              <a:spcAft>
                <a:spcPts val="0"/>
              </a:spcAft>
              <a:buNone/>
            </a:pPr>
            <a:r>
              <a:t/>
            </a:r>
            <a:endParaRPr sz="1200">
              <a:solidFill>
                <a:schemeClr val="dk1"/>
              </a:solidFill>
            </a:endParaRPr>
          </a:p>
          <a:p>
            <a:pPr indent="0" lvl="0" marL="0" rtl="0" algn="just">
              <a:spcBef>
                <a:spcPts val="1200"/>
              </a:spcBef>
              <a:spcAft>
                <a:spcPts val="0"/>
              </a:spcAft>
              <a:buNone/>
            </a:pPr>
            <a:r>
              <a:t/>
            </a:r>
            <a:endParaRPr sz="1200">
              <a:solidFill>
                <a:schemeClr val="dk1"/>
              </a:solidFill>
            </a:endParaRPr>
          </a:p>
          <a:p>
            <a:pPr indent="-304800" lvl="0" marL="457200" rtl="0" algn="just">
              <a:lnSpc>
                <a:spcPct val="115000"/>
              </a:lnSpc>
              <a:spcBef>
                <a:spcPts val="1200"/>
              </a:spcBef>
              <a:spcAft>
                <a:spcPts val="0"/>
              </a:spcAft>
              <a:buClr>
                <a:schemeClr val="dk1"/>
              </a:buClr>
              <a:buSzPts val="1200"/>
              <a:buAutoNum type="arabicPeriod"/>
            </a:pPr>
            <a:r>
              <a:t/>
            </a:r>
            <a:endParaRPr sz="1200">
              <a:solidFill>
                <a:srgbClr val="595959"/>
              </a:solidFill>
            </a:endParaRPr>
          </a:p>
        </p:txBody>
      </p:sp>
      <p:pic>
        <p:nvPicPr>
          <p:cNvPr id="128" name="Google Shape;128;p20"/>
          <p:cNvPicPr preferRelativeResize="0"/>
          <p:nvPr/>
        </p:nvPicPr>
        <p:blipFill>
          <a:blip r:embed="rId4">
            <a:alphaModFix/>
          </a:blip>
          <a:stretch>
            <a:fillRect/>
          </a:stretch>
        </p:blipFill>
        <p:spPr>
          <a:xfrm>
            <a:off x="3777725" y="2852663"/>
            <a:ext cx="2600325" cy="2009775"/>
          </a:xfrm>
          <a:prstGeom prst="rect">
            <a:avLst/>
          </a:prstGeom>
          <a:noFill/>
          <a:ln>
            <a:noFill/>
          </a:ln>
        </p:spPr>
      </p:pic>
      <p:sp>
        <p:nvSpPr>
          <p:cNvPr id="129" name="Google Shape;129;p20"/>
          <p:cNvSpPr/>
          <p:nvPr/>
        </p:nvSpPr>
        <p:spPr>
          <a:xfrm>
            <a:off x="5838850" y="2069225"/>
            <a:ext cx="3305100" cy="30153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just">
              <a:lnSpc>
                <a:spcPct val="115000"/>
              </a:lnSpc>
              <a:spcBef>
                <a:spcPts val="1200"/>
              </a:spcBef>
              <a:spcAft>
                <a:spcPts val="1200"/>
              </a:spcAft>
              <a:buClr>
                <a:schemeClr val="dk1"/>
              </a:buClr>
              <a:buSzPts val="1100"/>
              <a:buFont typeface="Arial"/>
              <a:buNone/>
            </a:pPr>
            <a:r>
              <a:rPr b="1" lang="en" sz="1100">
                <a:solidFill>
                  <a:schemeClr val="dk1"/>
                </a:solidFill>
              </a:rPr>
              <a:t>Using Record Alerts in Automotive Cloud to Safeguard Vehicles and Drivers from Critical Issues</a:t>
            </a:r>
            <a:r>
              <a:rPr lang="en" sz="1100">
                <a:solidFill>
                  <a:schemeClr val="dk1"/>
                </a:solidFill>
              </a:rPr>
              <a:t>: Record alerts in Automotive Cloud provide timely notifications to keep users informed about critical issues, helping to protect both vehicles and drivers. These alerts proactively address potential problems and warnings. Service technicians, sales representatives, and service dealers can view alerts related to warranty expiration, scheduled maintenance, repairs, lease extensions, and more. This feature can be seen as a next-generation capability for enhanced protection.</a:t>
            </a:r>
            <a:endParaRPr b="1" sz="1100">
              <a:solidFill>
                <a:schemeClr val="dk1"/>
              </a:solidFill>
            </a:endParaRPr>
          </a:p>
        </p:txBody>
      </p:sp>
      <p:sp>
        <p:nvSpPr>
          <p:cNvPr id="130" name="Google Shape;130;p20"/>
          <p:cNvSpPr txBox="1"/>
          <p:nvPr/>
        </p:nvSpPr>
        <p:spPr>
          <a:xfrm>
            <a:off x="0" y="3929100"/>
            <a:ext cx="6010500" cy="800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000" u="sng">
                <a:solidFill>
                  <a:schemeClr val="dk1"/>
                </a:solidFill>
              </a:rPr>
              <a:t>Case Study 2:</a:t>
            </a:r>
            <a:r>
              <a:rPr b="1" lang="en" sz="2000">
                <a:solidFill>
                  <a:schemeClr val="dk1"/>
                </a:solidFill>
              </a:rPr>
              <a:t> </a:t>
            </a:r>
            <a:r>
              <a:rPr b="1" lang="en" sz="2000">
                <a:solidFill>
                  <a:schemeClr val="dk1"/>
                </a:solidFill>
              </a:rPr>
              <a:t>Proactive Safety Solution via Smart Vehicle and Driver Record Alerts</a:t>
            </a:r>
            <a:endParaRPr b="1" sz="2000">
              <a:solidFill>
                <a:schemeClr val="dk1"/>
              </a:solidFill>
            </a:endParaRPr>
          </a:p>
        </p:txBody>
      </p:sp>
      <p:pic>
        <p:nvPicPr>
          <p:cNvPr id="131" name="Google Shape;131;p20"/>
          <p:cNvPicPr preferRelativeResize="0"/>
          <p:nvPr/>
        </p:nvPicPr>
        <p:blipFill>
          <a:blip r:embed="rId5">
            <a:alphaModFix/>
          </a:blip>
          <a:stretch>
            <a:fillRect/>
          </a:stretch>
        </p:blipFill>
        <p:spPr>
          <a:xfrm>
            <a:off x="7939475" y="36525"/>
            <a:ext cx="1204526" cy="1204526"/>
          </a:xfrm>
          <a:prstGeom prst="rect">
            <a:avLst/>
          </a:prstGeom>
          <a:noFill/>
          <a:ln>
            <a:noFill/>
          </a:ln>
        </p:spPr>
      </p:pic>
      <p:pic>
        <p:nvPicPr>
          <p:cNvPr id="132" name="Google Shape;132;p20"/>
          <p:cNvPicPr preferRelativeResize="0"/>
          <p:nvPr/>
        </p:nvPicPr>
        <p:blipFill>
          <a:blip r:embed="rId6">
            <a:alphaModFix/>
          </a:blip>
          <a:stretch>
            <a:fillRect/>
          </a:stretch>
        </p:blipFill>
        <p:spPr>
          <a:xfrm>
            <a:off x="4122025" y="938875"/>
            <a:ext cx="302177" cy="302177"/>
          </a:xfrm>
          <a:prstGeom prst="rect">
            <a:avLst/>
          </a:prstGeom>
          <a:noFill/>
          <a:ln>
            <a:noFill/>
          </a:ln>
        </p:spPr>
      </p:pic>
      <p:pic>
        <p:nvPicPr>
          <p:cNvPr id="133" name="Google Shape;133;p20"/>
          <p:cNvPicPr preferRelativeResize="0"/>
          <p:nvPr/>
        </p:nvPicPr>
        <p:blipFill>
          <a:blip r:embed="rId7">
            <a:alphaModFix/>
          </a:blip>
          <a:stretch>
            <a:fillRect/>
          </a:stretch>
        </p:blipFill>
        <p:spPr>
          <a:xfrm>
            <a:off x="0" y="36525"/>
            <a:ext cx="5838851" cy="3892575"/>
          </a:xfrm>
          <a:prstGeom prst="rect">
            <a:avLst/>
          </a:prstGeom>
          <a:noFill/>
          <a:ln>
            <a:noFill/>
          </a:ln>
        </p:spPr>
      </p:pic>
      <p:pic>
        <p:nvPicPr>
          <p:cNvPr id="134" name="Google Shape;134;p20"/>
          <p:cNvPicPr preferRelativeResize="0"/>
          <p:nvPr/>
        </p:nvPicPr>
        <p:blipFill>
          <a:blip r:embed="rId8">
            <a:alphaModFix/>
          </a:blip>
          <a:stretch>
            <a:fillRect/>
          </a:stretch>
        </p:blipFill>
        <p:spPr>
          <a:xfrm>
            <a:off x="0" y="0"/>
            <a:ext cx="5838849" cy="3869035"/>
          </a:xfrm>
          <a:prstGeom prst="rect">
            <a:avLst/>
          </a:prstGeom>
          <a:noFill/>
          <a:ln>
            <a:noFill/>
          </a:ln>
        </p:spPr>
      </p:pic>
      <p:pic>
        <p:nvPicPr>
          <p:cNvPr id="135" name="Google Shape;135;p20"/>
          <p:cNvPicPr preferRelativeResize="0"/>
          <p:nvPr/>
        </p:nvPicPr>
        <p:blipFill>
          <a:blip r:embed="rId9">
            <a:alphaModFix/>
          </a:blip>
          <a:stretch>
            <a:fillRect/>
          </a:stretch>
        </p:blipFill>
        <p:spPr>
          <a:xfrm>
            <a:off x="1004826" y="257100"/>
            <a:ext cx="666750" cy="504825"/>
          </a:xfrm>
          <a:prstGeom prst="rect">
            <a:avLst/>
          </a:prstGeom>
          <a:noFill/>
          <a:ln>
            <a:noFill/>
          </a:ln>
        </p:spPr>
      </p:pic>
      <p:pic>
        <p:nvPicPr>
          <p:cNvPr id="136" name="Google Shape;136;p20"/>
          <p:cNvPicPr preferRelativeResize="0"/>
          <p:nvPr/>
        </p:nvPicPr>
        <p:blipFill rotWithShape="1">
          <a:blip r:embed="rId9">
            <a:alphaModFix/>
          </a:blip>
          <a:srcRect b="0" l="0" r="0" t="0"/>
          <a:stretch/>
        </p:blipFill>
        <p:spPr>
          <a:xfrm>
            <a:off x="546701" y="1241050"/>
            <a:ext cx="666750" cy="504825"/>
          </a:xfrm>
          <a:prstGeom prst="rect">
            <a:avLst/>
          </a:prstGeom>
          <a:noFill/>
          <a:ln>
            <a:noFill/>
          </a:ln>
        </p:spPr>
      </p:pic>
      <p:pic>
        <p:nvPicPr>
          <p:cNvPr id="137" name="Google Shape;137;p20"/>
          <p:cNvPicPr preferRelativeResize="0"/>
          <p:nvPr/>
        </p:nvPicPr>
        <p:blipFill rotWithShape="1">
          <a:blip r:embed="rId9">
            <a:alphaModFix/>
          </a:blip>
          <a:srcRect b="0" l="0" r="0" t="0"/>
          <a:stretch/>
        </p:blipFill>
        <p:spPr>
          <a:xfrm>
            <a:off x="1497451" y="1943125"/>
            <a:ext cx="666750" cy="5048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pic>
        <p:nvPicPr>
          <p:cNvPr id="142" name="Google Shape;142;p21"/>
          <p:cNvPicPr preferRelativeResize="0"/>
          <p:nvPr/>
        </p:nvPicPr>
        <p:blipFill>
          <a:blip r:embed="rId3">
            <a:alphaModFix/>
          </a:blip>
          <a:stretch>
            <a:fillRect/>
          </a:stretch>
        </p:blipFill>
        <p:spPr>
          <a:xfrm>
            <a:off x="0" y="0"/>
            <a:ext cx="5510899" cy="3673925"/>
          </a:xfrm>
          <a:prstGeom prst="rect">
            <a:avLst/>
          </a:prstGeom>
          <a:noFill/>
          <a:ln>
            <a:noFill/>
          </a:ln>
        </p:spPr>
      </p:pic>
      <p:sp>
        <p:nvSpPr>
          <p:cNvPr id="143" name="Google Shape;143;p21"/>
          <p:cNvSpPr txBox="1"/>
          <p:nvPr/>
        </p:nvSpPr>
        <p:spPr>
          <a:xfrm>
            <a:off x="0" y="3673925"/>
            <a:ext cx="5511000" cy="14862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1200"/>
              </a:spcAft>
              <a:buNone/>
            </a:pPr>
            <a:r>
              <a:rPr b="1" lang="en" sz="1900">
                <a:solidFill>
                  <a:srgbClr val="4C1130"/>
                </a:solidFill>
              </a:rPr>
              <a:t>Smart, Secure, Seamless: Redefining Connected Vehicles with Salesforce Automotive Cloud, AI, Agentforce &amp; Data Cloud</a:t>
            </a:r>
            <a:endParaRPr b="1" sz="3500">
              <a:solidFill>
                <a:srgbClr val="4C1130"/>
              </a:solidFill>
              <a:latin typeface="Lobster"/>
              <a:ea typeface="Lobster"/>
              <a:cs typeface="Lobster"/>
              <a:sym typeface="Lobster"/>
            </a:endParaRPr>
          </a:p>
        </p:txBody>
      </p:sp>
      <p:sp>
        <p:nvSpPr>
          <p:cNvPr id="144" name="Google Shape;144;p21"/>
          <p:cNvSpPr/>
          <p:nvPr/>
        </p:nvSpPr>
        <p:spPr>
          <a:xfrm>
            <a:off x="5824075" y="222475"/>
            <a:ext cx="3128100" cy="628200"/>
          </a:xfrm>
          <a:prstGeom prst="round1Rect">
            <a:avLst>
              <a:gd fmla="val 16667" name="adj"/>
            </a:avLst>
          </a:prstGeom>
          <a:solidFill>
            <a:srgbClr val="1C458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a:solidFill>
                  <a:schemeClr val="lt1"/>
                </a:solidFill>
              </a:rPr>
              <a:t>API Integration</a:t>
            </a:r>
            <a:endParaRPr>
              <a:solidFill>
                <a:schemeClr val="lt1"/>
              </a:solidFill>
            </a:endParaRPr>
          </a:p>
        </p:txBody>
      </p:sp>
      <p:sp>
        <p:nvSpPr>
          <p:cNvPr id="145" name="Google Shape;145;p21"/>
          <p:cNvSpPr/>
          <p:nvPr/>
        </p:nvSpPr>
        <p:spPr>
          <a:xfrm>
            <a:off x="5824075" y="2485825"/>
            <a:ext cx="3128100" cy="628200"/>
          </a:xfrm>
          <a:prstGeom prst="round1Rect">
            <a:avLst>
              <a:gd fmla="val 16667" name="adj"/>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a:solidFill>
                  <a:schemeClr val="lt1"/>
                </a:solidFill>
              </a:rPr>
              <a:t>Slack</a:t>
            </a:r>
            <a:endParaRPr>
              <a:solidFill>
                <a:schemeClr val="lt1"/>
              </a:solidFill>
            </a:endParaRPr>
          </a:p>
        </p:txBody>
      </p:sp>
      <p:sp>
        <p:nvSpPr>
          <p:cNvPr id="146" name="Google Shape;146;p21"/>
          <p:cNvSpPr/>
          <p:nvPr/>
        </p:nvSpPr>
        <p:spPr>
          <a:xfrm>
            <a:off x="5824075" y="3240275"/>
            <a:ext cx="3128100" cy="628200"/>
          </a:xfrm>
          <a:prstGeom prst="round1Rect">
            <a:avLst>
              <a:gd fmla="val 16667" name="adj"/>
            </a:avLst>
          </a:prstGeom>
          <a:solidFill>
            <a:srgbClr val="1C458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a:solidFill>
                  <a:schemeClr val="lt1"/>
                </a:solidFill>
              </a:rPr>
              <a:t>Prompt Builder</a:t>
            </a:r>
            <a:endParaRPr>
              <a:solidFill>
                <a:schemeClr val="lt1"/>
              </a:solidFill>
            </a:endParaRPr>
          </a:p>
        </p:txBody>
      </p:sp>
      <p:sp>
        <p:nvSpPr>
          <p:cNvPr id="147" name="Google Shape;147;p21"/>
          <p:cNvSpPr/>
          <p:nvPr/>
        </p:nvSpPr>
        <p:spPr>
          <a:xfrm>
            <a:off x="5824075" y="3994725"/>
            <a:ext cx="3128100" cy="628200"/>
          </a:xfrm>
          <a:prstGeom prst="round1Rect">
            <a:avLst>
              <a:gd fmla="val 16667" name="adj"/>
            </a:avLst>
          </a:prstGeom>
          <a:solidFill>
            <a:srgbClr val="1C458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a:solidFill>
                  <a:schemeClr val="lt1"/>
                </a:solidFill>
              </a:rPr>
              <a:t>AgentForce Service Agent</a:t>
            </a:r>
            <a:endParaRPr>
              <a:solidFill>
                <a:schemeClr val="lt1"/>
              </a:solidFill>
            </a:endParaRPr>
          </a:p>
        </p:txBody>
      </p:sp>
      <p:sp>
        <p:nvSpPr>
          <p:cNvPr id="148" name="Google Shape;148;p21"/>
          <p:cNvSpPr/>
          <p:nvPr/>
        </p:nvSpPr>
        <p:spPr>
          <a:xfrm>
            <a:off x="5824075" y="976925"/>
            <a:ext cx="3128100" cy="628200"/>
          </a:xfrm>
          <a:prstGeom prst="round1Rect">
            <a:avLst>
              <a:gd fmla="val 16667" name="adj"/>
            </a:avLst>
          </a:prstGeom>
          <a:solidFill>
            <a:srgbClr val="1C458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a:solidFill>
                  <a:schemeClr val="lt1"/>
                </a:solidFill>
              </a:rPr>
              <a:t>Telemetry Data Insights</a:t>
            </a:r>
            <a:endParaRPr>
              <a:solidFill>
                <a:schemeClr val="lt1"/>
              </a:solidFill>
            </a:endParaRPr>
          </a:p>
        </p:txBody>
      </p:sp>
      <p:sp>
        <p:nvSpPr>
          <p:cNvPr id="149" name="Google Shape;149;p21"/>
          <p:cNvSpPr/>
          <p:nvPr/>
        </p:nvSpPr>
        <p:spPr>
          <a:xfrm>
            <a:off x="5824075" y="1731375"/>
            <a:ext cx="3128100" cy="628200"/>
          </a:xfrm>
          <a:prstGeom prst="round1Rect">
            <a:avLst>
              <a:gd fmla="val 16667" name="adj"/>
            </a:avLst>
          </a:prstGeom>
          <a:solidFill>
            <a:srgbClr val="1C458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rPr>
              <a:t>Automotive Cloud Record Alerts</a:t>
            </a:r>
            <a:endParaRPr>
              <a:solidFill>
                <a:schemeClr val="lt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3" name="Shape 153"/>
        <p:cNvGrpSpPr/>
        <p:nvPr/>
      </p:nvGrpSpPr>
      <p:grpSpPr>
        <a:xfrm>
          <a:off x="0" y="0"/>
          <a:ext cx="0" cy="0"/>
          <a:chOff x="0" y="0"/>
          <a:chExt cx="0" cy="0"/>
        </a:xfrm>
      </p:grpSpPr>
      <p:sp>
        <p:nvSpPr>
          <p:cNvPr id="154" name="Google Shape;154;p22"/>
          <p:cNvSpPr txBox="1"/>
          <p:nvPr/>
        </p:nvSpPr>
        <p:spPr>
          <a:xfrm>
            <a:off x="0" y="3929100"/>
            <a:ext cx="58389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b="1" sz="2000">
              <a:solidFill>
                <a:schemeClr val="dk1"/>
              </a:solidFill>
            </a:endParaRPr>
          </a:p>
        </p:txBody>
      </p:sp>
      <p:pic>
        <p:nvPicPr>
          <p:cNvPr id="155" name="Google Shape;155;p22"/>
          <p:cNvPicPr preferRelativeResize="0"/>
          <p:nvPr/>
        </p:nvPicPr>
        <p:blipFill>
          <a:blip r:embed="rId4">
            <a:alphaModFix/>
          </a:blip>
          <a:stretch>
            <a:fillRect/>
          </a:stretch>
        </p:blipFill>
        <p:spPr>
          <a:xfrm>
            <a:off x="152400" y="0"/>
            <a:ext cx="8991601" cy="8991601"/>
          </a:xfrm>
          <a:prstGeom prst="rect">
            <a:avLst/>
          </a:prstGeom>
          <a:noFill/>
          <a:ln>
            <a:noFill/>
          </a:ln>
        </p:spPr>
      </p:pic>
      <p:sp>
        <p:nvSpPr>
          <p:cNvPr id="156" name="Google Shape;156;p22"/>
          <p:cNvSpPr/>
          <p:nvPr/>
        </p:nvSpPr>
        <p:spPr>
          <a:xfrm>
            <a:off x="5838850" y="2069225"/>
            <a:ext cx="3305100" cy="31695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just">
              <a:lnSpc>
                <a:spcPct val="115000"/>
              </a:lnSpc>
              <a:spcBef>
                <a:spcPts val="1200"/>
              </a:spcBef>
              <a:spcAft>
                <a:spcPts val="0"/>
              </a:spcAft>
              <a:buNone/>
            </a:pPr>
            <a:r>
              <a:t/>
            </a:r>
            <a:endParaRPr b="1" sz="1100">
              <a:solidFill>
                <a:schemeClr val="dk1"/>
              </a:solidFill>
            </a:endParaRPr>
          </a:p>
          <a:p>
            <a:pPr indent="0" lvl="0" marL="0" rtl="0" algn="just">
              <a:lnSpc>
                <a:spcPct val="115000"/>
              </a:lnSpc>
              <a:spcBef>
                <a:spcPts val="1200"/>
              </a:spcBef>
              <a:spcAft>
                <a:spcPts val="0"/>
              </a:spcAft>
              <a:buNone/>
            </a:pPr>
            <a:r>
              <a:t/>
            </a:r>
            <a:endParaRPr b="1" sz="1100">
              <a:solidFill>
                <a:schemeClr val="dk1"/>
              </a:solidFill>
            </a:endParaRPr>
          </a:p>
          <a:p>
            <a:pPr indent="0" lvl="0" marL="0" rtl="0" algn="just">
              <a:lnSpc>
                <a:spcPct val="115000"/>
              </a:lnSpc>
              <a:spcBef>
                <a:spcPts val="1200"/>
              </a:spcBef>
              <a:spcAft>
                <a:spcPts val="0"/>
              </a:spcAft>
              <a:buNone/>
            </a:pPr>
            <a:r>
              <a:rPr b="1" lang="en" sz="1100">
                <a:solidFill>
                  <a:schemeClr val="dk1"/>
                </a:solidFill>
              </a:rPr>
              <a:t>Saving Lives with Slack: Real-Time Alerts for Rapid Rescue — Powered by Salesforce: </a:t>
            </a:r>
            <a:r>
              <a:rPr lang="en" sz="1100">
                <a:solidFill>
                  <a:schemeClr val="dk1"/>
                </a:solidFill>
              </a:rPr>
              <a:t>In critical situations, every second matters. By integrating real-time alerts through Slack with the power of Salesforce, rescue teams receive instant notifications and valuable insights. This seamless connection ensures that organizations can respond quickly and efficiently, saving lives when it counts the most. Salesforce’s robust CRM capabilities provide smooth communication and real-time tracking, enabling faster decision-making for a more effective response. Together, Slack and Salesforce create an integrated system for rapid, life-saving action.</a:t>
            </a:r>
            <a:endParaRPr sz="1100">
              <a:solidFill>
                <a:schemeClr val="dk1"/>
              </a:solidFill>
            </a:endParaRPr>
          </a:p>
          <a:p>
            <a:pPr indent="0" lvl="0" marL="0" rtl="0" algn="just">
              <a:lnSpc>
                <a:spcPct val="115000"/>
              </a:lnSpc>
              <a:spcBef>
                <a:spcPts val="1200"/>
              </a:spcBef>
              <a:spcAft>
                <a:spcPts val="0"/>
              </a:spcAft>
              <a:buNone/>
            </a:pPr>
            <a:r>
              <a:t/>
            </a:r>
            <a:endParaRPr b="1" sz="1100">
              <a:solidFill>
                <a:schemeClr val="dk1"/>
              </a:solidFill>
            </a:endParaRPr>
          </a:p>
          <a:p>
            <a:pPr indent="0" lvl="0" marL="0" rtl="0" algn="just">
              <a:lnSpc>
                <a:spcPct val="115000"/>
              </a:lnSpc>
              <a:spcBef>
                <a:spcPts val="1200"/>
              </a:spcBef>
              <a:spcAft>
                <a:spcPts val="1200"/>
              </a:spcAft>
              <a:buNone/>
            </a:pPr>
            <a:r>
              <a:t/>
            </a:r>
            <a:endParaRPr b="1" sz="1100">
              <a:solidFill>
                <a:schemeClr val="dk1"/>
              </a:solidFill>
            </a:endParaRPr>
          </a:p>
        </p:txBody>
      </p:sp>
      <p:sp>
        <p:nvSpPr>
          <p:cNvPr id="157" name="Google Shape;157;p22"/>
          <p:cNvSpPr txBox="1"/>
          <p:nvPr/>
        </p:nvSpPr>
        <p:spPr>
          <a:xfrm>
            <a:off x="0" y="3929100"/>
            <a:ext cx="5838900" cy="11082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en" sz="2000" u="sng">
                <a:solidFill>
                  <a:schemeClr val="dk1"/>
                </a:solidFill>
              </a:rPr>
              <a:t>Case Study 3:</a:t>
            </a:r>
            <a:r>
              <a:rPr b="1" lang="en" sz="2000">
                <a:solidFill>
                  <a:schemeClr val="dk1"/>
                </a:solidFill>
              </a:rPr>
              <a:t> Proactive Safety Framework with Slack: A Smart Alert System for Real-Time, Life-Saving Risk Prevention</a:t>
            </a:r>
            <a:endParaRPr b="1" sz="2000">
              <a:solidFill>
                <a:schemeClr val="dk1"/>
              </a:solidFill>
            </a:endParaRPr>
          </a:p>
        </p:txBody>
      </p:sp>
      <p:pic>
        <p:nvPicPr>
          <p:cNvPr id="158" name="Google Shape;158;p22"/>
          <p:cNvPicPr preferRelativeResize="0"/>
          <p:nvPr/>
        </p:nvPicPr>
        <p:blipFill>
          <a:blip r:embed="rId5">
            <a:alphaModFix/>
          </a:blip>
          <a:stretch>
            <a:fillRect/>
          </a:stretch>
        </p:blipFill>
        <p:spPr>
          <a:xfrm>
            <a:off x="7939475" y="36525"/>
            <a:ext cx="1204526" cy="1204526"/>
          </a:xfrm>
          <a:prstGeom prst="rect">
            <a:avLst/>
          </a:prstGeom>
          <a:noFill/>
          <a:ln>
            <a:noFill/>
          </a:ln>
        </p:spPr>
      </p:pic>
      <p:pic>
        <p:nvPicPr>
          <p:cNvPr id="159" name="Google Shape;159;p22"/>
          <p:cNvPicPr preferRelativeResize="0"/>
          <p:nvPr/>
        </p:nvPicPr>
        <p:blipFill>
          <a:blip r:embed="rId6">
            <a:alphaModFix/>
          </a:blip>
          <a:stretch>
            <a:fillRect/>
          </a:stretch>
        </p:blipFill>
        <p:spPr>
          <a:xfrm>
            <a:off x="0" y="36525"/>
            <a:ext cx="5838851" cy="38925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pic>
        <p:nvPicPr>
          <p:cNvPr id="164" name="Google Shape;164;p23"/>
          <p:cNvPicPr preferRelativeResize="0"/>
          <p:nvPr/>
        </p:nvPicPr>
        <p:blipFill>
          <a:blip r:embed="rId3">
            <a:alphaModFix/>
          </a:blip>
          <a:stretch>
            <a:fillRect/>
          </a:stretch>
        </p:blipFill>
        <p:spPr>
          <a:xfrm>
            <a:off x="0" y="0"/>
            <a:ext cx="5510899" cy="3673925"/>
          </a:xfrm>
          <a:prstGeom prst="rect">
            <a:avLst/>
          </a:prstGeom>
          <a:noFill/>
          <a:ln>
            <a:noFill/>
          </a:ln>
        </p:spPr>
      </p:pic>
      <p:sp>
        <p:nvSpPr>
          <p:cNvPr id="165" name="Google Shape;165;p23"/>
          <p:cNvSpPr txBox="1"/>
          <p:nvPr/>
        </p:nvSpPr>
        <p:spPr>
          <a:xfrm>
            <a:off x="0" y="3673925"/>
            <a:ext cx="5511000" cy="14862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1200"/>
              </a:spcAft>
              <a:buNone/>
            </a:pPr>
            <a:r>
              <a:rPr b="1" lang="en" sz="1900">
                <a:solidFill>
                  <a:srgbClr val="4C1130"/>
                </a:solidFill>
              </a:rPr>
              <a:t>Smart, Secure, Seamless: Redefining Connected Vehicles with Salesforce Automotive Cloud, AI, Agentforce &amp; Data Cloud</a:t>
            </a:r>
            <a:endParaRPr b="1" sz="3500">
              <a:solidFill>
                <a:srgbClr val="4C1130"/>
              </a:solidFill>
              <a:latin typeface="Lobster"/>
              <a:ea typeface="Lobster"/>
              <a:cs typeface="Lobster"/>
              <a:sym typeface="Lobster"/>
            </a:endParaRPr>
          </a:p>
        </p:txBody>
      </p:sp>
      <p:sp>
        <p:nvSpPr>
          <p:cNvPr id="166" name="Google Shape;166;p23"/>
          <p:cNvSpPr/>
          <p:nvPr/>
        </p:nvSpPr>
        <p:spPr>
          <a:xfrm>
            <a:off x="5824075" y="222475"/>
            <a:ext cx="3128100" cy="628200"/>
          </a:xfrm>
          <a:prstGeom prst="round1Rect">
            <a:avLst>
              <a:gd fmla="val 16667" name="adj"/>
            </a:avLst>
          </a:prstGeom>
          <a:solidFill>
            <a:srgbClr val="1C458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a:solidFill>
                  <a:schemeClr val="lt1"/>
                </a:solidFill>
              </a:rPr>
              <a:t>API Integration</a:t>
            </a:r>
            <a:endParaRPr>
              <a:solidFill>
                <a:schemeClr val="lt1"/>
              </a:solidFill>
            </a:endParaRPr>
          </a:p>
        </p:txBody>
      </p:sp>
      <p:sp>
        <p:nvSpPr>
          <p:cNvPr id="167" name="Google Shape;167;p23"/>
          <p:cNvSpPr/>
          <p:nvPr/>
        </p:nvSpPr>
        <p:spPr>
          <a:xfrm>
            <a:off x="5824075" y="2485825"/>
            <a:ext cx="3128100" cy="628200"/>
          </a:xfrm>
          <a:prstGeom prst="round1Rect">
            <a:avLst>
              <a:gd fmla="val 16667" name="adj"/>
            </a:avLst>
          </a:prstGeom>
          <a:solidFill>
            <a:srgbClr val="1C458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a:solidFill>
                  <a:schemeClr val="lt1"/>
                </a:solidFill>
              </a:rPr>
              <a:t>Slack</a:t>
            </a:r>
            <a:endParaRPr>
              <a:solidFill>
                <a:schemeClr val="lt1"/>
              </a:solidFill>
            </a:endParaRPr>
          </a:p>
        </p:txBody>
      </p:sp>
      <p:sp>
        <p:nvSpPr>
          <p:cNvPr id="168" name="Google Shape;168;p23"/>
          <p:cNvSpPr/>
          <p:nvPr/>
        </p:nvSpPr>
        <p:spPr>
          <a:xfrm>
            <a:off x="5824075" y="3240275"/>
            <a:ext cx="3128100" cy="628200"/>
          </a:xfrm>
          <a:prstGeom prst="round1Rect">
            <a:avLst>
              <a:gd fmla="val 16667" name="adj"/>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a:solidFill>
                  <a:schemeClr val="lt1"/>
                </a:solidFill>
              </a:rPr>
              <a:t>Prompt Builder</a:t>
            </a:r>
            <a:endParaRPr>
              <a:solidFill>
                <a:schemeClr val="lt1"/>
              </a:solidFill>
            </a:endParaRPr>
          </a:p>
        </p:txBody>
      </p:sp>
      <p:sp>
        <p:nvSpPr>
          <p:cNvPr id="169" name="Google Shape;169;p23"/>
          <p:cNvSpPr/>
          <p:nvPr/>
        </p:nvSpPr>
        <p:spPr>
          <a:xfrm>
            <a:off x="5824075" y="3994725"/>
            <a:ext cx="3128100" cy="628200"/>
          </a:xfrm>
          <a:prstGeom prst="round1Rect">
            <a:avLst>
              <a:gd fmla="val 16667" name="adj"/>
            </a:avLst>
          </a:prstGeom>
          <a:solidFill>
            <a:srgbClr val="1C458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a:solidFill>
                  <a:schemeClr val="lt1"/>
                </a:solidFill>
              </a:rPr>
              <a:t>AgentForce Service Agent</a:t>
            </a:r>
            <a:endParaRPr>
              <a:solidFill>
                <a:schemeClr val="lt1"/>
              </a:solidFill>
            </a:endParaRPr>
          </a:p>
        </p:txBody>
      </p:sp>
      <p:sp>
        <p:nvSpPr>
          <p:cNvPr id="170" name="Google Shape;170;p23"/>
          <p:cNvSpPr/>
          <p:nvPr/>
        </p:nvSpPr>
        <p:spPr>
          <a:xfrm>
            <a:off x="5824075" y="976925"/>
            <a:ext cx="3128100" cy="628200"/>
          </a:xfrm>
          <a:prstGeom prst="round1Rect">
            <a:avLst>
              <a:gd fmla="val 16667" name="adj"/>
            </a:avLst>
          </a:prstGeom>
          <a:solidFill>
            <a:srgbClr val="1C458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a:solidFill>
                  <a:schemeClr val="lt1"/>
                </a:solidFill>
              </a:rPr>
              <a:t>Telemetry Data Insights</a:t>
            </a:r>
            <a:endParaRPr>
              <a:solidFill>
                <a:schemeClr val="lt1"/>
              </a:solidFill>
            </a:endParaRPr>
          </a:p>
        </p:txBody>
      </p:sp>
      <p:sp>
        <p:nvSpPr>
          <p:cNvPr id="171" name="Google Shape;171;p23"/>
          <p:cNvSpPr/>
          <p:nvPr/>
        </p:nvSpPr>
        <p:spPr>
          <a:xfrm>
            <a:off x="5824075" y="1731375"/>
            <a:ext cx="3128100" cy="628200"/>
          </a:xfrm>
          <a:prstGeom prst="round1Rect">
            <a:avLst>
              <a:gd fmla="val 16667" name="adj"/>
            </a:avLst>
          </a:prstGeom>
          <a:solidFill>
            <a:srgbClr val="1C458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rPr>
              <a:t>Automotive Cloud Record Alerts</a:t>
            </a:r>
            <a:endParaRPr>
              <a:solidFill>
                <a:schemeClr val="lt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75" name="Shape 175"/>
        <p:cNvGrpSpPr/>
        <p:nvPr/>
      </p:nvGrpSpPr>
      <p:grpSpPr>
        <a:xfrm>
          <a:off x="0" y="0"/>
          <a:ext cx="0" cy="0"/>
          <a:chOff x="0" y="0"/>
          <a:chExt cx="0" cy="0"/>
        </a:xfrm>
      </p:grpSpPr>
      <p:sp>
        <p:nvSpPr>
          <p:cNvPr id="176" name="Google Shape;176;p24"/>
          <p:cNvSpPr txBox="1"/>
          <p:nvPr/>
        </p:nvSpPr>
        <p:spPr>
          <a:xfrm>
            <a:off x="5510875" y="2493225"/>
            <a:ext cx="3633000" cy="2571600"/>
          </a:xfrm>
          <a:prstGeom prst="rect">
            <a:avLst/>
          </a:prstGeom>
          <a:noFill/>
          <a:ln>
            <a:noFill/>
          </a:ln>
        </p:spPr>
        <p:txBody>
          <a:bodyPr anchorCtr="0" anchor="t" bIns="91425" lIns="91425" spcFirstLastPara="1" rIns="91425" wrap="square" tIns="91425">
            <a:noAutofit/>
          </a:bodyPr>
          <a:lstStyle/>
          <a:p>
            <a:pPr indent="0" lvl="0" marL="0" rtl="0" algn="just">
              <a:spcBef>
                <a:spcPts val="1200"/>
              </a:spcBef>
              <a:spcAft>
                <a:spcPts val="0"/>
              </a:spcAft>
              <a:buNone/>
            </a:pPr>
            <a:r>
              <a:t/>
            </a:r>
            <a:endParaRPr sz="1200">
              <a:solidFill>
                <a:schemeClr val="dk1"/>
              </a:solidFill>
            </a:endParaRPr>
          </a:p>
          <a:p>
            <a:pPr indent="0" lvl="0" marL="0" rtl="0" algn="just">
              <a:spcBef>
                <a:spcPts val="1200"/>
              </a:spcBef>
              <a:spcAft>
                <a:spcPts val="0"/>
              </a:spcAft>
              <a:buNone/>
            </a:pPr>
            <a:r>
              <a:t/>
            </a:r>
            <a:endParaRPr sz="1200">
              <a:solidFill>
                <a:schemeClr val="dk1"/>
              </a:solidFill>
            </a:endParaRPr>
          </a:p>
          <a:p>
            <a:pPr indent="0" lvl="0" marL="0" rtl="0" algn="just">
              <a:lnSpc>
                <a:spcPct val="115000"/>
              </a:lnSpc>
              <a:spcBef>
                <a:spcPts val="1200"/>
              </a:spcBef>
              <a:spcAft>
                <a:spcPts val="1200"/>
              </a:spcAft>
              <a:buNone/>
            </a:pPr>
            <a:r>
              <a:t/>
            </a:r>
            <a:endParaRPr sz="1200">
              <a:solidFill>
                <a:srgbClr val="595959"/>
              </a:solidFill>
            </a:endParaRPr>
          </a:p>
        </p:txBody>
      </p:sp>
      <p:sp>
        <p:nvSpPr>
          <p:cNvPr id="177" name="Google Shape;177;p24"/>
          <p:cNvSpPr/>
          <p:nvPr/>
        </p:nvSpPr>
        <p:spPr>
          <a:xfrm>
            <a:off x="-52375" y="0"/>
            <a:ext cx="2866200" cy="44499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1200"/>
              </a:spcBef>
              <a:spcAft>
                <a:spcPts val="0"/>
              </a:spcAft>
              <a:buNone/>
            </a:pPr>
            <a:r>
              <a:rPr b="1" lang="en" sz="1000">
                <a:solidFill>
                  <a:schemeClr val="dk1"/>
                </a:solidFill>
              </a:rPr>
              <a:t>Breakdown to Breakthrough: Smarter Vehicle Support with Salesforce Prompt Builder</a:t>
            </a:r>
            <a:endParaRPr b="1" sz="1000">
              <a:solidFill>
                <a:schemeClr val="dk1"/>
              </a:solidFill>
            </a:endParaRPr>
          </a:p>
          <a:p>
            <a:pPr indent="0" lvl="0" marL="0" rtl="0" algn="l">
              <a:lnSpc>
                <a:spcPct val="115000"/>
              </a:lnSpc>
              <a:spcBef>
                <a:spcPts val="1200"/>
              </a:spcBef>
              <a:spcAft>
                <a:spcPts val="0"/>
              </a:spcAft>
              <a:buNone/>
            </a:pPr>
            <a:r>
              <a:rPr lang="en" sz="1000">
                <a:solidFill>
                  <a:schemeClr val="dk1"/>
                </a:solidFill>
              </a:rPr>
              <a:t>We’ve leveraged </a:t>
            </a:r>
            <a:r>
              <a:rPr b="1" lang="en" sz="1000">
                <a:solidFill>
                  <a:schemeClr val="dk1"/>
                </a:solidFill>
              </a:rPr>
              <a:t>Salesforce’s Gen AI Prompt Builder</a:t>
            </a:r>
            <a:r>
              <a:rPr lang="en" sz="1000">
                <a:solidFill>
                  <a:schemeClr val="dk1"/>
                </a:solidFill>
              </a:rPr>
              <a:t> in multiple impactful ways:</a:t>
            </a:r>
            <a:endParaRPr sz="1000">
              <a:solidFill>
                <a:schemeClr val="dk1"/>
              </a:solidFill>
            </a:endParaRPr>
          </a:p>
          <a:p>
            <a:pPr indent="0" lvl="0" marL="0" rtl="0" algn="l">
              <a:lnSpc>
                <a:spcPct val="115000"/>
              </a:lnSpc>
              <a:spcBef>
                <a:spcPts val="1200"/>
              </a:spcBef>
              <a:spcAft>
                <a:spcPts val="0"/>
              </a:spcAft>
              <a:buNone/>
            </a:pPr>
            <a:r>
              <a:t/>
            </a:r>
            <a:endParaRPr sz="1000">
              <a:solidFill>
                <a:schemeClr val="dk1"/>
              </a:solidFill>
            </a:endParaRPr>
          </a:p>
          <a:p>
            <a:pPr indent="0" lvl="0" marL="0" rtl="0" algn="l">
              <a:lnSpc>
                <a:spcPct val="115000"/>
              </a:lnSpc>
              <a:spcBef>
                <a:spcPts val="1200"/>
              </a:spcBef>
              <a:spcAft>
                <a:spcPts val="0"/>
              </a:spcAft>
              <a:buNone/>
            </a:pPr>
            <a:r>
              <a:rPr b="1" lang="en" sz="1000">
                <a:solidFill>
                  <a:schemeClr val="dk1"/>
                </a:solidFill>
              </a:rPr>
              <a:t>1. Intelligent Email Automation:</a:t>
            </a:r>
            <a:endParaRPr b="1" sz="1000">
              <a:solidFill>
                <a:schemeClr val="dk1"/>
              </a:solidFill>
            </a:endParaRPr>
          </a:p>
          <a:p>
            <a:pPr indent="0" lvl="0" marL="0" rtl="0" algn="l">
              <a:lnSpc>
                <a:spcPct val="115000"/>
              </a:lnSpc>
              <a:spcBef>
                <a:spcPts val="1200"/>
              </a:spcBef>
              <a:spcAft>
                <a:spcPts val="0"/>
              </a:spcAft>
              <a:buNone/>
            </a:pPr>
            <a:r>
              <a:rPr lang="en" sz="1000">
                <a:solidFill>
                  <a:schemeClr val="dk1"/>
                </a:solidFill>
              </a:rPr>
              <a:t>The Prompt Builder auto-generates dynamic, context-aware emails for key vehicle scenarios such as service due alerts, oil changes, breakdowns, and accident notifications. By pulling from dynamic attribute values, it reduces manual effort and boosts customer engagement with timely, personalized communication.</a:t>
            </a:r>
            <a:endParaRPr sz="1000">
              <a:solidFill>
                <a:schemeClr val="dk1"/>
              </a:solidFill>
            </a:endParaRPr>
          </a:p>
          <a:p>
            <a:pPr indent="0" lvl="0" marL="0" rtl="0" algn="l">
              <a:lnSpc>
                <a:spcPct val="115000"/>
              </a:lnSpc>
              <a:spcBef>
                <a:spcPts val="1200"/>
              </a:spcBef>
              <a:spcAft>
                <a:spcPts val="1200"/>
              </a:spcAft>
              <a:buNone/>
            </a:pPr>
            <a:r>
              <a:t/>
            </a:r>
            <a:endParaRPr b="1" sz="1000">
              <a:solidFill>
                <a:schemeClr val="dk1"/>
              </a:solidFill>
            </a:endParaRPr>
          </a:p>
        </p:txBody>
      </p:sp>
      <p:sp>
        <p:nvSpPr>
          <p:cNvPr id="178" name="Google Shape;178;p24"/>
          <p:cNvSpPr/>
          <p:nvPr/>
        </p:nvSpPr>
        <p:spPr>
          <a:xfrm>
            <a:off x="6151250" y="1241050"/>
            <a:ext cx="2992500" cy="39024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1200"/>
              </a:spcBef>
              <a:spcAft>
                <a:spcPts val="0"/>
              </a:spcAft>
              <a:buNone/>
            </a:pPr>
            <a:r>
              <a:rPr b="1" lang="en" sz="1000">
                <a:solidFill>
                  <a:schemeClr val="dk1"/>
                </a:solidFill>
              </a:rPr>
              <a:t>2. AI-Powered Record Summary:</a:t>
            </a:r>
            <a:endParaRPr b="1" sz="1000">
              <a:solidFill>
                <a:schemeClr val="dk1"/>
              </a:solidFill>
            </a:endParaRPr>
          </a:p>
          <a:p>
            <a:pPr indent="0" lvl="0" marL="0" rtl="0" algn="l">
              <a:lnSpc>
                <a:spcPct val="115000"/>
              </a:lnSpc>
              <a:spcBef>
                <a:spcPts val="1200"/>
              </a:spcBef>
              <a:spcAft>
                <a:spcPts val="0"/>
              </a:spcAft>
              <a:buNone/>
            </a:pPr>
            <a:r>
              <a:rPr lang="en" sz="1000">
                <a:solidFill>
                  <a:schemeClr val="dk1"/>
                </a:solidFill>
              </a:rPr>
              <a:t>Widely adopted across industries, the Record Summary feature delivers concise, AI-generated overviews of detailed records—providing an eagle-eye view in a fast-paced world. Using over 50 fields, this built-in Salesforce AI capability transforms how data is consumed and understood, offering rapid insights and decision-making power. It's poised to be a game changer in the evolving AI ecosystem.</a:t>
            </a:r>
            <a:endParaRPr sz="1000">
              <a:solidFill>
                <a:schemeClr val="dk1"/>
              </a:solidFill>
            </a:endParaRPr>
          </a:p>
          <a:p>
            <a:pPr indent="0" lvl="0" marL="0" rtl="0" algn="l">
              <a:lnSpc>
                <a:spcPct val="115000"/>
              </a:lnSpc>
              <a:spcBef>
                <a:spcPts val="1200"/>
              </a:spcBef>
              <a:spcAft>
                <a:spcPts val="0"/>
              </a:spcAft>
              <a:buNone/>
            </a:pPr>
            <a:r>
              <a:rPr lang="en" sz="1000">
                <a:solidFill>
                  <a:schemeClr val="dk1"/>
                </a:solidFill>
              </a:rPr>
              <a:t>We also make use of Salesforce's </a:t>
            </a:r>
            <a:r>
              <a:rPr b="1" lang="en" sz="1000">
                <a:solidFill>
                  <a:schemeClr val="dk1"/>
                </a:solidFill>
              </a:rPr>
              <a:t>out-of-the-box automation tool, Flows</a:t>
            </a:r>
            <a:r>
              <a:rPr lang="en" sz="1000">
                <a:solidFill>
                  <a:schemeClr val="dk1"/>
                </a:solidFill>
              </a:rPr>
              <a:t>, which triggers instantly on record alerts to streamline processes and accelerate response times.</a:t>
            </a:r>
            <a:endParaRPr sz="1000">
              <a:solidFill>
                <a:schemeClr val="dk1"/>
              </a:solidFill>
            </a:endParaRPr>
          </a:p>
          <a:p>
            <a:pPr indent="0" lvl="0" marL="0" rtl="0" algn="l">
              <a:lnSpc>
                <a:spcPct val="115000"/>
              </a:lnSpc>
              <a:spcBef>
                <a:spcPts val="1200"/>
              </a:spcBef>
              <a:spcAft>
                <a:spcPts val="1200"/>
              </a:spcAft>
              <a:buNone/>
            </a:pPr>
            <a:r>
              <a:rPr lang="en" sz="1000">
                <a:solidFill>
                  <a:schemeClr val="dk1"/>
                </a:solidFill>
              </a:rPr>
              <a:t>With support for advanced AI models such as </a:t>
            </a:r>
            <a:r>
              <a:rPr b="1" lang="en" sz="1000">
                <a:solidFill>
                  <a:schemeClr val="dk1"/>
                </a:solidFill>
              </a:rPr>
              <a:t>Azure OpenAI GPT</a:t>
            </a:r>
            <a:r>
              <a:rPr lang="en" sz="1000">
                <a:solidFill>
                  <a:schemeClr val="dk1"/>
                </a:solidFill>
              </a:rPr>
              <a:t> and </a:t>
            </a:r>
            <a:r>
              <a:rPr b="1" lang="en" sz="1000">
                <a:solidFill>
                  <a:schemeClr val="dk1"/>
                </a:solidFill>
              </a:rPr>
              <a:t>OpenAI’s GPT</a:t>
            </a:r>
            <a:r>
              <a:rPr lang="en" sz="1000">
                <a:solidFill>
                  <a:schemeClr val="dk1"/>
                </a:solidFill>
              </a:rPr>
              <a:t>, Salesforce ensures robust, future-ready integration and intelligent automation at scale.</a:t>
            </a:r>
            <a:endParaRPr sz="1000">
              <a:solidFill>
                <a:schemeClr val="dk1"/>
              </a:solidFill>
            </a:endParaRPr>
          </a:p>
        </p:txBody>
      </p:sp>
      <p:pic>
        <p:nvPicPr>
          <p:cNvPr id="179" name="Google Shape;179;p24"/>
          <p:cNvPicPr preferRelativeResize="0"/>
          <p:nvPr/>
        </p:nvPicPr>
        <p:blipFill>
          <a:blip r:embed="rId4">
            <a:alphaModFix/>
          </a:blip>
          <a:stretch>
            <a:fillRect/>
          </a:stretch>
        </p:blipFill>
        <p:spPr>
          <a:xfrm>
            <a:off x="7939225" y="0"/>
            <a:ext cx="1204526" cy="120452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pic>
        <p:nvPicPr>
          <p:cNvPr id="184" name="Google Shape;184;p25"/>
          <p:cNvPicPr preferRelativeResize="0"/>
          <p:nvPr/>
        </p:nvPicPr>
        <p:blipFill>
          <a:blip r:embed="rId3">
            <a:alphaModFix/>
          </a:blip>
          <a:stretch>
            <a:fillRect/>
          </a:stretch>
        </p:blipFill>
        <p:spPr>
          <a:xfrm>
            <a:off x="0" y="0"/>
            <a:ext cx="5510899" cy="3673925"/>
          </a:xfrm>
          <a:prstGeom prst="rect">
            <a:avLst/>
          </a:prstGeom>
          <a:noFill/>
          <a:ln>
            <a:noFill/>
          </a:ln>
        </p:spPr>
      </p:pic>
      <p:sp>
        <p:nvSpPr>
          <p:cNvPr id="185" name="Google Shape;185;p25"/>
          <p:cNvSpPr txBox="1"/>
          <p:nvPr/>
        </p:nvSpPr>
        <p:spPr>
          <a:xfrm>
            <a:off x="0" y="3673925"/>
            <a:ext cx="5511000" cy="14862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1200"/>
              </a:spcAft>
              <a:buNone/>
            </a:pPr>
            <a:r>
              <a:rPr b="1" lang="en" sz="1900">
                <a:solidFill>
                  <a:srgbClr val="4C1130"/>
                </a:solidFill>
              </a:rPr>
              <a:t>Smart, Secure, Seamless: Redefining Connected Vehicles with Salesforce Automotive Cloud, AI, Agentforce &amp; Data Cloud</a:t>
            </a:r>
            <a:endParaRPr b="1" sz="3500">
              <a:solidFill>
                <a:srgbClr val="4C1130"/>
              </a:solidFill>
              <a:latin typeface="Lobster"/>
              <a:ea typeface="Lobster"/>
              <a:cs typeface="Lobster"/>
              <a:sym typeface="Lobster"/>
            </a:endParaRPr>
          </a:p>
        </p:txBody>
      </p:sp>
      <p:sp>
        <p:nvSpPr>
          <p:cNvPr id="186" name="Google Shape;186;p25"/>
          <p:cNvSpPr/>
          <p:nvPr/>
        </p:nvSpPr>
        <p:spPr>
          <a:xfrm>
            <a:off x="5824075" y="222475"/>
            <a:ext cx="3128100" cy="628200"/>
          </a:xfrm>
          <a:prstGeom prst="round1Rect">
            <a:avLst>
              <a:gd fmla="val 16667" name="adj"/>
            </a:avLst>
          </a:prstGeom>
          <a:solidFill>
            <a:srgbClr val="1C458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a:solidFill>
                  <a:schemeClr val="lt1"/>
                </a:solidFill>
              </a:rPr>
              <a:t>API Integration</a:t>
            </a:r>
            <a:endParaRPr>
              <a:solidFill>
                <a:schemeClr val="lt1"/>
              </a:solidFill>
            </a:endParaRPr>
          </a:p>
        </p:txBody>
      </p:sp>
      <p:sp>
        <p:nvSpPr>
          <p:cNvPr id="187" name="Google Shape;187;p25"/>
          <p:cNvSpPr/>
          <p:nvPr/>
        </p:nvSpPr>
        <p:spPr>
          <a:xfrm>
            <a:off x="5824075" y="2485825"/>
            <a:ext cx="3128100" cy="628200"/>
          </a:xfrm>
          <a:prstGeom prst="round1Rect">
            <a:avLst>
              <a:gd fmla="val 16667" name="adj"/>
            </a:avLst>
          </a:prstGeom>
          <a:solidFill>
            <a:srgbClr val="1C458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a:solidFill>
                  <a:schemeClr val="lt1"/>
                </a:solidFill>
              </a:rPr>
              <a:t>Slack</a:t>
            </a:r>
            <a:endParaRPr>
              <a:solidFill>
                <a:schemeClr val="lt1"/>
              </a:solidFill>
            </a:endParaRPr>
          </a:p>
        </p:txBody>
      </p:sp>
      <p:sp>
        <p:nvSpPr>
          <p:cNvPr id="188" name="Google Shape;188;p25"/>
          <p:cNvSpPr/>
          <p:nvPr/>
        </p:nvSpPr>
        <p:spPr>
          <a:xfrm>
            <a:off x="5824075" y="3240275"/>
            <a:ext cx="3128100" cy="628200"/>
          </a:xfrm>
          <a:prstGeom prst="round1Rect">
            <a:avLst>
              <a:gd fmla="val 16667" name="adj"/>
            </a:avLst>
          </a:prstGeom>
          <a:solidFill>
            <a:srgbClr val="1C458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a:solidFill>
                  <a:schemeClr val="lt1"/>
                </a:solidFill>
              </a:rPr>
              <a:t>Prompt Builder</a:t>
            </a:r>
            <a:endParaRPr>
              <a:solidFill>
                <a:schemeClr val="lt1"/>
              </a:solidFill>
            </a:endParaRPr>
          </a:p>
        </p:txBody>
      </p:sp>
      <p:sp>
        <p:nvSpPr>
          <p:cNvPr id="189" name="Google Shape;189;p25"/>
          <p:cNvSpPr/>
          <p:nvPr/>
        </p:nvSpPr>
        <p:spPr>
          <a:xfrm>
            <a:off x="5824075" y="3994725"/>
            <a:ext cx="3128100" cy="628200"/>
          </a:xfrm>
          <a:prstGeom prst="round1Rect">
            <a:avLst>
              <a:gd fmla="val 16667" name="adj"/>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a:solidFill>
                  <a:schemeClr val="lt1"/>
                </a:solidFill>
              </a:rPr>
              <a:t>AgentForce Service Agent</a:t>
            </a:r>
            <a:endParaRPr>
              <a:solidFill>
                <a:schemeClr val="lt1"/>
              </a:solidFill>
            </a:endParaRPr>
          </a:p>
        </p:txBody>
      </p:sp>
      <p:sp>
        <p:nvSpPr>
          <p:cNvPr id="190" name="Google Shape;190;p25"/>
          <p:cNvSpPr/>
          <p:nvPr/>
        </p:nvSpPr>
        <p:spPr>
          <a:xfrm>
            <a:off x="5824075" y="976925"/>
            <a:ext cx="3128100" cy="628200"/>
          </a:xfrm>
          <a:prstGeom prst="round1Rect">
            <a:avLst>
              <a:gd fmla="val 16667" name="adj"/>
            </a:avLst>
          </a:prstGeom>
          <a:solidFill>
            <a:srgbClr val="1C458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a:solidFill>
                  <a:schemeClr val="lt1"/>
                </a:solidFill>
              </a:rPr>
              <a:t>Telemetry Data Insights</a:t>
            </a:r>
            <a:endParaRPr>
              <a:solidFill>
                <a:schemeClr val="lt1"/>
              </a:solidFill>
            </a:endParaRPr>
          </a:p>
        </p:txBody>
      </p:sp>
      <p:sp>
        <p:nvSpPr>
          <p:cNvPr id="191" name="Google Shape;191;p25"/>
          <p:cNvSpPr/>
          <p:nvPr/>
        </p:nvSpPr>
        <p:spPr>
          <a:xfrm>
            <a:off x="5824075" y="1731375"/>
            <a:ext cx="3128100" cy="628200"/>
          </a:xfrm>
          <a:prstGeom prst="round1Rect">
            <a:avLst>
              <a:gd fmla="val 16667" name="adj"/>
            </a:avLst>
          </a:prstGeom>
          <a:solidFill>
            <a:srgbClr val="1C458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rPr>
              <a:t>Automotive Cloud Record Alerts</a:t>
            </a:r>
            <a:endParaRPr>
              <a:solidFill>
                <a:schemeClr val="lt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95" name="Shape 195"/>
        <p:cNvGrpSpPr/>
        <p:nvPr/>
      </p:nvGrpSpPr>
      <p:grpSpPr>
        <a:xfrm>
          <a:off x="0" y="0"/>
          <a:ext cx="0" cy="0"/>
          <a:chOff x="0" y="0"/>
          <a:chExt cx="0" cy="0"/>
        </a:xfrm>
      </p:grpSpPr>
      <p:pic>
        <p:nvPicPr>
          <p:cNvPr id="196" name="Google Shape;196;p26"/>
          <p:cNvPicPr preferRelativeResize="0"/>
          <p:nvPr/>
        </p:nvPicPr>
        <p:blipFill>
          <a:blip r:embed="rId4">
            <a:alphaModFix/>
          </a:blip>
          <a:stretch>
            <a:fillRect/>
          </a:stretch>
        </p:blipFill>
        <p:spPr>
          <a:xfrm>
            <a:off x="4371203" y="0"/>
            <a:ext cx="4772797" cy="5143500"/>
          </a:xfrm>
          <a:prstGeom prst="rect">
            <a:avLst/>
          </a:prstGeom>
          <a:noFill/>
          <a:ln>
            <a:noFill/>
          </a:ln>
        </p:spPr>
      </p:pic>
      <p:pic>
        <p:nvPicPr>
          <p:cNvPr id="197" name="Google Shape;197;p26"/>
          <p:cNvPicPr preferRelativeResize="0"/>
          <p:nvPr/>
        </p:nvPicPr>
        <p:blipFill>
          <a:blip r:embed="rId5">
            <a:alphaModFix/>
          </a:blip>
          <a:stretch>
            <a:fillRect/>
          </a:stretch>
        </p:blipFill>
        <p:spPr>
          <a:xfrm>
            <a:off x="11" y="0"/>
            <a:ext cx="9144000" cy="4634308"/>
          </a:xfrm>
          <a:prstGeom prst="rect">
            <a:avLst/>
          </a:prstGeom>
          <a:noFill/>
          <a:ln>
            <a:noFill/>
          </a:ln>
        </p:spPr>
      </p:pic>
      <p:pic>
        <p:nvPicPr>
          <p:cNvPr id="198" name="Google Shape;198;p26"/>
          <p:cNvPicPr preferRelativeResize="0"/>
          <p:nvPr/>
        </p:nvPicPr>
        <p:blipFill>
          <a:blip r:embed="rId6">
            <a:alphaModFix/>
          </a:blip>
          <a:stretch>
            <a:fillRect/>
          </a:stretch>
        </p:blipFill>
        <p:spPr>
          <a:xfrm>
            <a:off x="157238" y="690450"/>
            <a:ext cx="2066925" cy="952500"/>
          </a:xfrm>
          <a:prstGeom prst="rect">
            <a:avLst/>
          </a:prstGeom>
          <a:noFill/>
          <a:ln>
            <a:noFill/>
          </a:ln>
        </p:spPr>
      </p:pic>
      <p:pic>
        <p:nvPicPr>
          <p:cNvPr id="199" name="Google Shape;199;p26"/>
          <p:cNvPicPr preferRelativeResize="0"/>
          <p:nvPr/>
        </p:nvPicPr>
        <p:blipFill>
          <a:blip r:embed="rId6">
            <a:alphaModFix/>
          </a:blip>
          <a:stretch>
            <a:fillRect/>
          </a:stretch>
        </p:blipFill>
        <p:spPr>
          <a:xfrm>
            <a:off x="0" y="2571750"/>
            <a:ext cx="2066925" cy="2244550"/>
          </a:xfrm>
          <a:prstGeom prst="rect">
            <a:avLst/>
          </a:prstGeom>
          <a:noFill/>
          <a:ln>
            <a:noFill/>
          </a:ln>
        </p:spPr>
      </p:pic>
      <p:sp>
        <p:nvSpPr>
          <p:cNvPr id="200" name="Google Shape;200;p26"/>
          <p:cNvSpPr txBox="1"/>
          <p:nvPr/>
        </p:nvSpPr>
        <p:spPr>
          <a:xfrm>
            <a:off x="5186025" y="3326025"/>
            <a:ext cx="3793500" cy="147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latin typeface="Times New Roman"/>
                <a:ea typeface="Times New Roman"/>
                <a:cs typeface="Times New Roman"/>
                <a:sym typeface="Times New Roman"/>
              </a:rPr>
              <a:t>Agentforce is Salesforce’s innovative low-code platform designed for automotive companies to easily build, customize, and deploy autonomous agents that streamline service case creation, enable Live Agent Connect for breakdowns, and deliver AI-powered record summarization.</a:t>
            </a:r>
            <a:endParaRPr>
              <a:solidFill>
                <a:schemeClr val="dk1"/>
              </a:solidFill>
              <a:latin typeface="Times New Roman"/>
              <a:ea typeface="Times New Roman"/>
              <a:cs typeface="Times New Roman"/>
              <a:sym typeface="Times New Roman"/>
            </a:endParaRPr>
          </a:p>
        </p:txBody>
      </p:sp>
      <p:pic>
        <p:nvPicPr>
          <p:cNvPr id="201" name="Google Shape;201;p26"/>
          <p:cNvPicPr preferRelativeResize="0"/>
          <p:nvPr/>
        </p:nvPicPr>
        <p:blipFill>
          <a:blip r:embed="rId7">
            <a:alphaModFix/>
          </a:blip>
          <a:stretch>
            <a:fillRect/>
          </a:stretch>
        </p:blipFill>
        <p:spPr>
          <a:xfrm>
            <a:off x="1" y="3189138"/>
            <a:ext cx="5014576" cy="175127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